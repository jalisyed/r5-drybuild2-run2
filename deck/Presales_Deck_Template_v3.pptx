
<file path=[Content_Types].xml><?xml version="1.0" encoding="utf-8"?>
<Types xmlns="http://schemas.openxmlformats.org/package/2006/content-types">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extended-properties" Target="docProps/app.xml"/><Relationship Id="rId2" Type="http://schemas.openxmlformats.org/package/2006/relationships/metadata/core-properties" Target="docProps/core.xml"/><Relationship Id="rId3"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Lst>
  <p:notesMasterIdLst>
    <p:notesMasterId r:id="rId16"/>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notesMaster" Target="notesMasters/notesMaster1.xml"/><Relationship Id="rId17" Type="http://schemas.openxmlformats.org/officeDocument/2006/relationships/presProps" Target="presProps.xml"/><Relationship Id="rId18" Type="http://schemas.openxmlformats.org/officeDocument/2006/relationships/viewProps" Target="viewProps.xml"/><Relationship Id="rId19" Type="http://schemas.openxmlformats.org/officeDocument/2006/relationships/theme" Target="theme/theme1.xml"/><Relationship Id="rId20"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1 | 0:02-0:03 | set the frame
OPEN: "Thank you for the time. Here is what I would like us to leave with today" (read the three cards, one breath each).
ASK: "Is that the right outcome for the hour?"
AVOID: no company history, no feature list, no agenda of slides.
BRIDGE: "Before I show anything, I want to confirm I understood each of you."
CLOCK: whole meeting is 45 min role-play + 15 min debrief. Plan 25 min of content; questions will fill the rest.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2 | 0:03-0:08 (allow up to 10) | discovery validation, person by person
OPEN: confirm each role out loud: "You are the [role], correct?" then read "what I heard" from the prompt notes, using THEIR words.
ASK each persona one open question: executive = "what would make this a win for you in a quarter?"; technical = "what is the constraint I should design around?"; business = "which decision waits on this data today?"
LISTEN FOR: new facts, emotion, a number, a deadline. Write them on the slide or on paper.
BRIDGE: "Thank you. Here is how that changes what we measure." (go to slide 3)
AVOID: do not correct them, do not start solving, do not read the slide.
IF THEY TALK LONG: good. Protect this slide; cut slide 3 depth instead.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3 | 0:08-0:11 | translate technical into business value
OPEN: "Based on what you told me, this is how I would measure success." Walk the table by persona, one line each.
KEY LINE: "Faster is the means. The value is [x]." (for each persona finish the sentence: faster -&gt; fewer stockouts / quicker decisions / less manual work / more visibility).
ASK: "Which of these would you change?" Let them rewrite a cell.
AVOID: NO cost, pricing or TCO talk (they said it is out of scope). Value is outcomes: revenue protected, decisions sooner, risk reduced, time returned.
BRIDGE: "Let me show you what that looks like on data shaped like yours." (go to the demo)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4 | 0:11-0:12, then LIVE DEMO until about 0:21 | solution map, then jump to the demo
OPEN: "Quick map so you know what is real today and what is assumed." Solid = built; dashed = assumed (say what you assumed and why, e.g. 'I assumed your store systems land files in cloud storage').
EVERY box: say the business problem it solves in one sentence; if a box has no stated problem, do not mention it.
ASK: "Does anything here worry you?"
THEN DEMO (jump back and forth): show only the screens that answer the persona questions from slide 2. One business question per screen. Say the business answer first, then how.
AVOID: no tour of notebooks, no 'how Genie works', no feature you cannot tie to a stated problem (the work-truck-with-a-Bose-stereo trap).
DEMO ORDER: 1 the target artifact answering the executive's question, 2 the technical leader's concern (freshness, governance, reliability), 3 the business leader's self-service question (Genie or the prompt library).
IF IT BREAKS: "Let me show you the screenshot" (backup slides); keep talking.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SLIDE 5 | about 0:21-0:24 | the journey</a:t>
            </a:r>
          </a:p>
          <a:p>
            <a:r>
              <a:t>OPEN: "Here is how we get from today to value, without a big bang." Walk the three blocks with REAL dates counted from the interview date.</a:t>
            </a:r>
          </a:p>
          <a:p>
            <a:r>
              <a:t>DATE RULE: pilot starts the Monday after the meeting (or the date they give), runs 2 weeks, 1 adjustment week, go-live on the week the prompt gives (never write a holiday name on the slide). Check the calendar: do not state an impossible date.</a:t>
            </a:r>
          </a:p>
          <a:p>
            <a:r>
              <a:t>ASK: "Who on your side would own the pilot?" (get a name)</a:t>
            </a:r>
          </a:p>
          <a:p>
            <a:r>
              <a:t>LISTEN FOR: constraints on timing, approvals, a blocker you can pre-empt.</a:t>
            </a:r>
          </a:p>
          <a:p>
            <a:r>
              <a:t>AVOID: no price, no cost, no commercial terms; if asked: "Commercial terms follow the pilot; today I want to confirm the value."</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6 | about 0:24-0:27 (use whenever the conversation reaches it; latest start 0:38) | assumptive close
OPEN: "So here is what I propose: we kick off on [date]." State dates as already agreed, not as a question ("we start on", not "would you like to").
ASK: "Anything that would stop us starting on [date]?" Then be quiet; let them answer.
HANDLE: objection -&gt; acknowledge, ask what is behind it, reframe to the business outcome, offer a smaller step (a one-workload pilot).
CLOSE: read back the names and dates; thank each person by name; ask "what did I miss?".
AVOID: do not open new topics in the last five minutes; no price talk.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BACKUP (hidden). Use when asked 'what did you assume?'. They said assumptions will not be challenged, but you must explain them and why they are reasonable. Say what you stood in for and what would change if it is different.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BACKUP (hidden). Use if the technical leader asks how the pieces fit. Mark built vs assumed.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BACKUP (hidden). Use if asked about tables or grain. State the grain of each table.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BACKUP (hidden). Fallback if the live demo fails. Say what it proves in one sentence.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BACKUP (hidden). Fallback if the live demo fails. Say what it proves in one sentence.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BACKUP (hidden). Fallback if the live demo fails. Say what it proves in one sentence.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BACKUP (hidden). Fallback if the live demo fails. Say what it proves in one sentence.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BACKUP (hidden). For the 15-minute debrief only. Say: tools used, what you checked in AI output, what you assumed, what you would do next.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WHITE">
    <p:bg>
      <p:bgPr>
        <a:solidFill>
          <a:srgbClr val="FFFFFF"/>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8046720" cy="731520"/>
          </a:xfrm>
          <a:prstGeom prst="rect">
            <a:avLst/>
          </a:prstGeom>
          <a:noFill/>
          <a:ln/>
        </p:spPr>
        <p:txBody>
          <a:bodyPr wrap="square" rtlCol="0"/>
          <a:lstStyle>
            <a:lvl1pPr algn="l" indent="0" marL="0">
              <a:buNone/>
              <a:defRPr lang="en-US" sz="3000" b="1" dirty="0">
                <a:solidFill>
                  <a:srgbClr val="1F2933"/>
                </a:solidFill>
                <a:latin typeface="Calibri" pitchFamily="34" charset="0"/>
                <a:ea typeface="Calibri" pitchFamily="34" charset="-122"/>
                <a:cs typeface="Calibri" pitchFamily="34" charset="-120"/>
              </a:defRPr>
            </a:lvl1pPr>
          </a:lstStyle>
          <a:p>
            <a:pPr algn="l" indent="0" marL="0">
              <a:buNone/>
            </a:pPr>
            <a:endParaRPr lang="en-US" sz="3000" dirty="0"/>
          </a:p>
        </p:txBody>
      </p:sp>
      <p:sp>
        <p:nvSpPr>
          <p:cNvPr id="25" name="Slide Number Placeholder 0"/>
          <p:cNvSpPr>
            <a:spLocks noGrp="1"/>
          </p:cNvSpPr>
          <p:nvPr>
            <p:ph type="sldNum" sz="quarter" idx="4294967295"/>
          </p:nvPr>
        </p:nvSpPr>
        <p:spPr>
          <a:xfrm>
            <a:off x="8412480" y="4800600"/>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rgbClr val="6B7280"/>
                </a:solidFill>
              </a:defRPr>
            </a:lvl1pPr>
          </a:lstStyle>
          <a:p>
            <a:pPr algn="l"/>
            <a:fld id="{F7021451-1387-4CA6-816F-3879F97B5CBC}" type="slidenum">
              <a:rPr b="0" lang="en-US"/>
              <a:t>1002</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8412480" y="4800600"/>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rgbClr val="6B7280"/>
                </a:solidFill>
              </a:defRPr>
            </a:lvl1pPr>
          </a:lstStyle>
          <a:p>
            <a:pPr algn="l"/>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8046720" cy="731520"/>
          </a:xfrm>
          <a:prstGeom prst="rect">
            <a:avLst/>
          </a:prstGeom>
          <a:noFill/>
          <a:ln/>
        </p:spPr>
        <p:txBody>
          <a:bodyPr wrap="square" lIns="0" tIns="0" rIns="0" bIns="0" rtlCol="0" anchor="ctr"/>
          <a:lstStyle/>
          <a:p>
            <a:pPr algn="l" indent="0" marL="0">
              <a:buNone/>
            </a:pPr>
            <a:r>
              <a:rPr lang="en-US" sz="3000" b="1" dirty="0">
                <a:solidFill>
                  <a:srgbClr val="1F2933"/>
                </a:solidFill>
                <a:latin typeface="Calibri" pitchFamily="34" charset="0"/>
                <a:ea typeface="Calibri" pitchFamily="34" charset="-122"/>
                <a:cs typeface="Calibri" pitchFamily="34" charset="-120"/>
              </a:rPr>
              <a:t>[Customer]: [their outcome]</a:t>
            </a:r>
            <a:endParaRPr lang="en-US" sz="3000" dirty="0"/>
          </a:p>
        </p:txBody>
      </p:sp>
      <p:sp>
        <p:nvSpPr>
          <p:cNvPr id="3" name="Shape 1"/>
          <p:cNvSpPr/>
          <p:nvPr/>
        </p:nvSpPr>
        <p:spPr>
          <a:xfrm>
            <a:off x="548640" y="1097280"/>
            <a:ext cx="1097280" cy="0"/>
          </a:xfrm>
          <a:prstGeom prst="line">
            <a:avLst/>
          </a:prstGeom>
          <a:noFill/>
          <a:ln w="25400">
            <a:solidFill>
              <a:srgbClr val="1F5FBF"/>
            </a:solidFill>
            <a:prstDash val="solid"/>
          </a:ln>
        </p:spPr>
      </p:sp>
      <p:sp>
        <p:nvSpPr>
          <p:cNvPr id="4" name="Text 2"/>
          <p:cNvSpPr txBox="1"/>
          <p:nvPr/>
        </p:nvSpPr>
        <p:spPr>
          <a:xfrm>
            <a:off x="548640" y="1280160"/>
            <a:ext cx="8046720" cy="365760"/>
          </a:xfrm>
          <a:prstGeom prst="rect">
            <a:avLst/>
          </a:prstGeom>
          <a:noFill/>
          <a:ln/>
        </p:spPr>
        <p:txBody>
          <a:bodyPr wrap="square" lIns="0" tIns="0" rIns="0" bIns="0" rtlCol="0" anchor="ctr"/>
          <a:lstStyle/>
          <a:p>
            <a:pPr indent="0" marL="0">
              <a:buNone/>
            </a:pPr>
            <a:r>
              <a:rPr lang="en-US" sz="1800" dirty="0">
                <a:solidFill>
                  <a:srgbClr val="6B7280"/>
                </a:solidFill>
                <a:latin typeface="Calibri" pitchFamily="34" charset="0"/>
                <a:ea typeface="Calibri" pitchFamily="34" charset="-122"/>
                <a:cs typeface="Calibri" pitchFamily="34" charset="-120"/>
              </a:rPr>
              <a:t>By the end of this meeting you will have seen:</a:t>
            </a:r>
            <a:endParaRPr lang="en-US" sz="1800" dirty="0"/>
          </a:p>
        </p:txBody>
      </p:sp>
      <p:sp>
        <p:nvSpPr>
          <p:cNvPr id="5" name="out0"/>
          <p:cNvSpPr/>
          <p:nvPr/>
        </p:nvSpPr>
        <p:spPr>
          <a:xfrm>
            <a:off x="548640" y="1828800"/>
            <a:ext cx="2560320" cy="2103120"/>
          </a:xfrm>
          <a:prstGeom prst="rect">
            <a:avLst/>
          </a:prstGeom>
          <a:solidFill>
            <a:srgbClr val="FFFFFF"/>
          </a:solidFill>
          <a:ln w="9525">
            <a:solidFill>
              <a:srgbClr val="D9DCE1"/>
            </a:solidFill>
            <a:prstDash val="solid"/>
          </a:ln>
        </p:spPr>
      </p:sp>
      <p:sp>
        <p:nvSpPr>
          <p:cNvPr id="6" name="Text 4"/>
          <p:cNvSpPr txBox="1"/>
          <p:nvPr/>
        </p:nvSpPr>
        <p:spPr>
          <a:xfrm>
            <a:off x="777240" y="2011680"/>
            <a:ext cx="548640" cy="548640"/>
          </a:xfrm>
          <a:prstGeom prst="rect">
            <a:avLst/>
          </a:prstGeom>
          <a:noFill/>
          <a:ln/>
        </p:spPr>
        <p:txBody>
          <a:bodyPr wrap="square" lIns="0" tIns="0" rIns="0" bIns="0" rtlCol="0" anchor="ctr"/>
          <a:lstStyle/>
          <a:p>
            <a:pPr indent="0" marL="0">
              <a:buNone/>
            </a:pPr>
            <a:r>
              <a:rPr lang="en-US" sz="3200" b="1" dirty="0">
                <a:solidFill>
                  <a:srgbClr val="1F5FBF"/>
                </a:solidFill>
                <a:latin typeface="Calibri" pitchFamily="34" charset="0"/>
                <a:ea typeface="Calibri" pitchFamily="34" charset="-122"/>
                <a:cs typeface="Calibri" pitchFamily="34" charset="-120"/>
              </a:rPr>
              <a:t>1</a:t>
            </a:r>
            <a:endParaRPr lang="en-US" sz="3200" dirty="0"/>
          </a:p>
        </p:txBody>
      </p:sp>
      <p:sp>
        <p:nvSpPr>
          <p:cNvPr id="7" name="Text 5"/>
          <p:cNvSpPr txBox="1"/>
          <p:nvPr/>
        </p:nvSpPr>
        <p:spPr>
          <a:xfrm>
            <a:off x="777240" y="2697480"/>
            <a:ext cx="2148840" cy="548640"/>
          </a:xfrm>
          <a:prstGeom prst="rect">
            <a:avLst/>
          </a:prstGeom>
          <a:noFill/>
          <a:ln/>
        </p:spPr>
        <p:txBody>
          <a:bodyPr wrap="square" lIns="0" tIns="0" rIns="0" bIns="0" rtlCol="0" anchor="t"/>
          <a:lstStyle/>
          <a:p>
            <a:pPr indent="0" marL="0">
              <a:buNone/>
            </a:pPr>
            <a:r>
              <a:rPr lang="en-US" sz="1700" b="1" dirty="0">
                <a:solidFill>
                  <a:srgbClr val="1F2933"/>
                </a:solidFill>
                <a:latin typeface="Calibri" pitchFamily="34" charset="0"/>
                <a:ea typeface="Calibri" pitchFamily="34" charset="-122"/>
                <a:cs typeface="Calibri" pitchFamily="34" charset="-120"/>
              </a:rPr>
              <a:t>Your situation, as I understood it</a:t>
            </a:r>
            <a:endParaRPr lang="en-US" sz="1700" dirty="0"/>
          </a:p>
        </p:txBody>
      </p:sp>
      <p:sp>
        <p:nvSpPr>
          <p:cNvPr id="8" name="Text 6"/>
          <p:cNvSpPr txBox="1"/>
          <p:nvPr/>
        </p:nvSpPr>
        <p:spPr>
          <a:xfrm>
            <a:off x="777240" y="3246120"/>
            <a:ext cx="2148840" cy="640080"/>
          </a:xfrm>
          <a:prstGeom prst="rect">
            <a:avLst/>
          </a:prstGeom>
          <a:noFill/>
          <a:ln/>
        </p:spPr>
        <p:txBody>
          <a:bodyPr wrap="square" lIns="0" tIns="0" rIns="0" bIns="0" rtlCol="0" anchor="t"/>
          <a:lstStyle/>
          <a:p>
            <a:pPr indent="0" marL="0">
              <a:buNone/>
            </a:pPr>
            <a:r>
              <a:rPr lang="en-US" sz="1400" dirty="0">
                <a:solidFill>
                  <a:srgbClr val="6B7280"/>
                </a:solidFill>
                <a:latin typeface="Calibri" pitchFamily="34" charset="0"/>
                <a:ea typeface="Calibri" pitchFamily="34" charset="-122"/>
                <a:cs typeface="Calibri" pitchFamily="34" charset="-120"/>
              </a:rPr>
              <a:t>Confirmed with each of you first.</a:t>
            </a:r>
            <a:endParaRPr lang="en-US" sz="1400" dirty="0"/>
          </a:p>
        </p:txBody>
      </p:sp>
      <p:sp>
        <p:nvSpPr>
          <p:cNvPr id="9" name="out1"/>
          <p:cNvSpPr/>
          <p:nvPr/>
        </p:nvSpPr>
        <p:spPr>
          <a:xfrm>
            <a:off x="3291840" y="1828800"/>
            <a:ext cx="2560320" cy="2103120"/>
          </a:xfrm>
          <a:prstGeom prst="rect">
            <a:avLst/>
          </a:prstGeom>
          <a:solidFill>
            <a:srgbClr val="FFFFFF"/>
          </a:solidFill>
          <a:ln w="9525">
            <a:solidFill>
              <a:srgbClr val="D9DCE1"/>
            </a:solidFill>
            <a:prstDash val="solid"/>
          </a:ln>
        </p:spPr>
      </p:sp>
      <p:sp>
        <p:nvSpPr>
          <p:cNvPr id="10" name="Text 8"/>
          <p:cNvSpPr txBox="1"/>
          <p:nvPr/>
        </p:nvSpPr>
        <p:spPr>
          <a:xfrm>
            <a:off x="3520440" y="2011680"/>
            <a:ext cx="548640" cy="548640"/>
          </a:xfrm>
          <a:prstGeom prst="rect">
            <a:avLst/>
          </a:prstGeom>
          <a:noFill/>
          <a:ln/>
        </p:spPr>
        <p:txBody>
          <a:bodyPr wrap="square" lIns="0" tIns="0" rIns="0" bIns="0" rtlCol="0" anchor="ctr"/>
          <a:lstStyle/>
          <a:p>
            <a:pPr indent="0" marL="0">
              <a:buNone/>
            </a:pPr>
            <a:r>
              <a:rPr lang="en-US" sz="3200" b="1" dirty="0">
                <a:solidFill>
                  <a:srgbClr val="1F5FBF"/>
                </a:solidFill>
                <a:latin typeface="Calibri" pitchFamily="34" charset="0"/>
                <a:ea typeface="Calibri" pitchFamily="34" charset="-122"/>
                <a:cs typeface="Calibri" pitchFamily="34" charset="-120"/>
              </a:rPr>
              <a:t>2</a:t>
            </a:r>
            <a:endParaRPr lang="en-US" sz="3200" dirty="0"/>
          </a:p>
        </p:txBody>
      </p:sp>
      <p:sp>
        <p:nvSpPr>
          <p:cNvPr id="11" name="Text 9"/>
          <p:cNvSpPr txBox="1"/>
          <p:nvPr/>
        </p:nvSpPr>
        <p:spPr>
          <a:xfrm>
            <a:off x="3520440" y="2697480"/>
            <a:ext cx="2148840" cy="548640"/>
          </a:xfrm>
          <a:prstGeom prst="rect">
            <a:avLst/>
          </a:prstGeom>
          <a:noFill/>
          <a:ln/>
        </p:spPr>
        <p:txBody>
          <a:bodyPr wrap="square" lIns="0" tIns="0" rIns="0" bIns="0" rtlCol="0" anchor="t"/>
          <a:lstStyle/>
          <a:p>
            <a:pPr indent="0" marL="0">
              <a:buNone/>
            </a:pPr>
            <a:r>
              <a:rPr lang="en-US" sz="1700" b="1" dirty="0">
                <a:solidFill>
                  <a:srgbClr val="1F2933"/>
                </a:solidFill>
                <a:latin typeface="Calibri" pitchFamily="34" charset="0"/>
                <a:ea typeface="Calibri" pitchFamily="34" charset="-122"/>
                <a:cs typeface="Calibri" pitchFamily="34" charset="-120"/>
              </a:rPr>
              <a:t>A working demo on your questions</a:t>
            </a:r>
            <a:endParaRPr lang="en-US" sz="1700" dirty="0"/>
          </a:p>
        </p:txBody>
      </p:sp>
      <p:sp>
        <p:nvSpPr>
          <p:cNvPr id="12" name="Text 10"/>
          <p:cNvSpPr txBox="1"/>
          <p:nvPr/>
        </p:nvSpPr>
        <p:spPr>
          <a:xfrm>
            <a:off x="3520440" y="3246120"/>
            <a:ext cx="2148840" cy="640080"/>
          </a:xfrm>
          <a:prstGeom prst="rect">
            <a:avLst/>
          </a:prstGeom>
          <a:noFill/>
          <a:ln/>
        </p:spPr>
        <p:txBody>
          <a:bodyPr wrap="square" lIns="0" tIns="0" rIns="0" bIns="0" rtlCol="0" anchor="t"/>
          <a:lstStyle/>
          <a:p>
            <a:pPr indent="0" marL="0">
              <a:buNone/>
            </a:pPr>
            <a:r>
              <a:rPr lang="en-US" sz="1400" dirty="0">
                <a:solidFill>
                  <a:srgbClr val="6B7280"/>
                </a:solidFill>
                <a:latin typeface="Calibri" pitchFamily="34" charset="0"/>
                <a:ea typeface="Calibri" pitchFamily="34" charset="-122"/>
                <a:cs typeface="Calibri" pitchFamily="34" charset="-120"/>
              </a:rPr>
              <a:t>[Dashboard / app / Genie], on data shaped like yours.</a:t>
            </a:r>
            <a:endParaRPr lang="en-US" sz="1400" dirty="0"/>
          </a:p>
        </p:txBody>
      </p:sp>
      <p:sp>
        <p:nvSpPr>
          <p:cNvPr id="13" name="out2"/>
          <p:cNvSpPr/>
          <p:nvPr/>
        </p:nvSpPr>
        <p:spPr>
          <a:xfrm>
            <a:off x="6035040" y="1828800"/>
            <a:ext cx="2560320" cy="2103120"/>
          </a:xfrm>
          <a:prstGeom prst="rect">
            <a:avLst/>
          </a:prstGeom>
          <a:solidFill>
            <a:srgbClr val="FFFFFF"/>
          </a:solidFill>
          <a:ln w="9525">
            <a:solidFill>
              <a:srgbClr val="D9DCE1"/>
            </a:solidFill>
            <a:prstDash val="solid"/>
          </a:ln>
        </p:spPr>
      </p:sp>
      <p:sp>
        <p:nvSpPr>
          <p:cNvPr id="14" name="Text 12"/>
          <p:cNvSpPr txBox="1"/>
          <p:nvPr/>
        </p:nvSpPr>
        <p:spPr>
          <a:xfrm>
            <a:off x="6263640" y="2011680"/>
            <a:ext cx="548640" cy="548640"/>
          </a:xfrm>
          <a:prstGeom prst="rect">
            <a:avLst/>
          </a:prstGeom>
          <a:noFill/>
          <a:ln/>
        </p:spPr>
        <p:txBody>
          <a:bodyPr wrap="square" lIns="0" tIns="0" rIns="0" bIns="0" rtlCol="0" anchor="ctr"/>
          <a:lstStyle/>
          <a:p>
            <a:pPr indent="0" marL="0">
              <a:buNone/>
            </a:pPr>
            <a:r>
              <a:rPr lang="en-US" sz="3200" b="1" dirty="0">
                <a:solidFill>
                  <a:srgbClr val="1F5FBF"/>
                </a:solidFill>
                <a:latin typeface="Calibri" pitchFamily="34" charset="0"/>
                <a:ea typeface="Calibri" pitchFamily="34" charset="-122"/>
                <a:cs typeface="Calibri" pitchFamily="34" charset="-120"/>
              </a:rPr>
              <a:t>3</a:t>
            </a:r>
            <a:endParaRPr lang="en-US" sz="3200" dirty="0"/>
          </a:p>
        </p:txBody>
      </p:sp>
      <p:sp>
        <p:nvSpPr>
          <p:cNvPr id="15" name="Text 13"/>
          <p:cNvSpPr txBox="1"/>
          <p:nvPr/>
        </p:nvSpPr>
        <p:spPr>
          <a:xfrm>
            <a:off x="6263640" y="2697480"/>
            <a:ext cx="2148840" cy="548640"/>
          </a:xfrm>
          <a:prstGeom prst="rect">
            <a:avLst/>
          </a:prstGeom>
          <a:noFill/>
          <a:ln/>
        </p:spPr>
        <p:txBody>
          <a:bodyPr wrap="square" lIns="0" tIns="0" rIns="0" bIns="0" rtlCol="0" anchor="t"/>
          <a:lstStyle/>
          <a:p>
            <a:pPr indent="0" marL="0">
              <a:buNone/>
            </a:pPr>
            <a:r>
              <a:rPr lang="en-US" sz="1700" b="1" dirty="0">
                <a:solidFill>
                  <a:srgbClr val="1F2933"/>
                </a:solidFill>
                <a:latin typeface="Calibri" pitchFamily="34" charset="0"/>
                <a:ea typeface="Calibri" pitchFamily="34" charset="-122"/>
                <a:cs typeface="Calibri" pitchFamily="34" charset="-120"/>
              </a:rPr>
              <a:t>A two-week pilot</a:t>
            </a:r>
            <a:endParaRPr lang="en-US" sz="1700" dirty="0"/>
          </a:p>
        </p:txBody>
      </p:sp>
      <p:sp>
        <p:nvSpPr>
          <p:cNvPr id="16" name="Text 14"/>
          <p:cNvSpPr txBox="1"/>
          <p:nvPr/>
        </p:nvSpPr>
        <p:spPr>
          <a:xfrm>
            <a:off x="6263640" y="3246120"/>
            <a:ext cx="2148840" cy="640080"/>
          </a:xfrm>
          <a:prstGeom prst="rect">
            <a:avLst/>
          </a:prstGeom>
          <a:noFill/>
          <a:ln/>
        </p:spPr>
        <p:txBody>
          <a:bodyPr wrap="square" lIns="0" tIns="0" rIns="0" bIns="0" rtlCol="0" anchor="t"/>
          <a:lstStyle/>
          <a:p>
            <a:pPr indent="0" marL="0">
              <a:buNone/>
            </a:pPr>
            <a:r>
              <a:rPr lang="en-US" sz="1400" dirty="0">
                <a:solidFill>
                  <a:srgbClr val="6B7280"/>
                </a:solidFill>
                <a:latin typeface="Calibri" pitchFamily="34" charset="0"/>
                <a:ea typeface="Calibri" pitchFamily="34" charset="-122"/>
                <a:cs typeface="Calibri" pitchFamily="34" charset="-120"/>
              </a:rPr>
              <a:t>With dates, owners and a measure of success.</a:t>
            </a:r>
            <a:endParaRPr lang="en-US" sz="1400" dirty="0"/>
          </a:p>
        </p:txBody>
      </p:sp>
      <p:sp>
        <p:nvSpPr>
          <p:cNvPr id="17" name="Text 15"/>
          <p:cNvSpPr txBox="1"/>
          <p:nvPr/>
        </p:nvSpPr>
        <p:spPr>
          <a:xfrm>
            <a:off x="548640" y="4754880"/>
            <a:ext cx="7315200" cy="228600"/>
          </a:xfrm>
          <a:prstGeom prst="rect">
            <a:avLst/>
          </a:prstGeom>
          <a:noFill/>
          <a:ln/>
        </p:spPr>
        <p:txBody>
          <a:bodyPr wrap="square" lIns="0" tIns="0" rIns="0" bIns="0" rtlCol="0" anchor="ctr"/>
          <a:lstStyle/>
          <a:p>
            <a:pPr indent="0" marL="0">
              <a:buNone/>
            </a:pPr>
            <a:r>
              <a:rPr lang="en-US" sz="1000" dirty="0">
                <a:solidFill>
                  <a:srgbClr val="6B7280"/>
                </a:solidFill>
                <a:latin typeface="Calibri" pitchFamily="34" charset="0"/>
                <a:ea typeface="Calibri" pitchFamily="34" charset="-122"/>
                <a:cs typeface="Calibri" pitchFamily="34" charset="-120"/>
              </a:rPr>
              <a:t>Syed Javed Ali  |  Databricks Solutions Architect  |  [Date]</a:t>
            </a:r>
            <a:endParaRPr lang="en-US" sz="1000" dirty="0"/>
          </a:p>
        </p:txBody>
      </p:sp>
      <p:sp>
        <p:nvSpPr>
          <p:cNvPr id="25" name="Slide Number Placeholder 0"/>
          <p:cNvSpPr>
            <a:spLocks noGrp="1"/>
          </p:cNvSpPr>
          <p:nvPr>
            <p:ph type="sldNum" sz="quarter" idx="4294967295"/>
          </p:nvPr>
        </p:nvSpPr>
        <p:spPr>
          <a:xfrm>
            <a:off x="8412480" y="4800600"/>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rgbClr val="6B7280"/>
                </a:solidFill>
              </a:defRPr>
            </a:lvl1pPr>
          </a:lstStyle>
          <a:p>
            <a:pPr algn="l"/>
            <a:fld id="{F7021451-1387-4CA6-816F-3879F97B5CBC}" type="slidenum">
              <a:rPr b="0" lang="en-US"/>
              <a:t>1</a:t>
            </a:fld>
            <a:endParaRPr lang="en-US"/>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8046720" cy="731520"/>
          </a:xfrm>
          <a:prstGeom prst="rect">
            <a:avLst/>
          </a:prstGeom>
          <a:noFill/>
          <a:ln/>
        </p:spPr>
        <p:txBody>
          <a:bodyPr wrap="square" lIns="0" tIns="0" rIns="0" bIns="0" rtlCol="0" anchor="ctr"/>
          <a:lstStyle/>
          <a:p>
            <a:pPr algn="l" indent="0" marL="0">
              <a:buNone/>
            </a:pPr>
            <a:r>
              <a:rPr lang="en-US" sz="3000" b="1" dirty="0">
                <a:solidFill>
                  <a:srgbClr val="1F2933"/>
                </a:solidFill>
                <a:latin typeface="Calibri" pitchFamily="34" charset="0"/>
                <a:ea typeface="Calibri" pitchFamily="34" charset="-122"/>
                <a:cs typeface="Calibri" pitchFamily="34" charset="-120"/>
              </a:rPr>
              <a:t>What I heard from each of you</a:t>
            </a:r>
            <a:endParaRPr lang="en-US" sz="3000" dirty="0"/>
          </a:p>
        </p:txBody>
      </p:sp>
      <p:sp>
        <p:nvSpPr>
          <p:cNvPr id="3" name="per0"/>
          <p:cNvSpPr/>
          <p:nvPr/>
        </p:nvSpPr>
        <p:spPr>
          <a:xfrm>
            <a:off x="548640" y="1280160"/>
            <a:ext cx="2560320" cy="2834640"/>
          </a:xfrm>
          <a:prstGeom prst="rect">
            <a:avLst/>
          </a:prstGeom>
          <a:solidFill>
            <a:srgbClr val="FFFFFF"/>
          </a:solidFill>
          <a:ln w="9525">
            <a:solidFill>
              <a:srgbClr val="D9DCE1"/>
            </a:solidFill>
            <a:prstDash val="solid"/>
          </a:ln>
        </p:spPr>
      </p:sp>
      <p:sp>
        <p:nvSpPr>
          <p:cNvPr id="4" name="Shape 2"/>
          <p:cNvSpPr/>
          <p:nvPr/>
        </p:nvSpPr>
        <p:spPr>
          <a:xfrm>
            <a:off x="548640" y="1280160"/>
            <a:ext cx="2560320" cy="0"/>
          </a:xfrm>
          <a:prstGeom prst="line">
            <a:avLst/>
          </a:prstGeom>
          <a:noFill/>
          <a:ln w="38100">
            <a:solidFill>
              <a:srgbClr val="1F5FBF"/>
            </a:solidFill>
            <a:prstDash val="solid"/>
          </a:ln>
        </p:spPr>
      </p:sp>
      <p:sp>
        <p:nvSpPr>
          <p:cNvPr id="5" name="Text 3"/>
          <p:cNvSpPr txBox="1"/>
          <p:nvPr/>
        </p:nvSpPr>
        <p:spPr>
          <a:xfrm>
            <a:off x="731520" y="1417320"/>
            <a:ext cx="2194560" cy="365760"/>
          </a:xfrm>
          <a:prstGeom prst="rect">
            <a:avLst/>
          </a:prstGeom>
          <a:noFill/>
          <a:ln/>
        </p:spPr>
        <p:txBody>
          <a:bodyPr wrap="square" lIns="0" tIns="0" rIns="0" bIns="0" rtlCol="0" anchor="ctr"/>
          <a:lstStyle/>
          <a:p>
            <a:pPr indent="0" marL="0">
              <a:buNone/>
            </a:pPr>
            <a:r>
              <a:rPr lang="en-US" sz="1600" b="1" dirty="0">
                <a:solidFill>
                  <a:srgbClr val="1F5FBF"/>
                </a:solidFill>
                <a:latin typeface="Calibri" pitchFamily="34" charset="0"/>
                <a:ea typeface="Calibri" pitchFamily="34" charset="-122"/>
                <a:cs typeface="Calibri" pitchFamily="34" charset="-120"/>
              </a:rPr>
              <a:t>Executive</a:t>
            </a:r>
            <a:endParaRPr lang="en-US" sz="1600" dirty="0"/>
          </a:p>
        </p:txBody>
      </p:sp>
      <p:sp>
        <p:nvSpPr>
          <p:cNvPr id="6" name="Text 4"/>
          <p:cNvSpPr txBox="1"/>
          <p:nvPr/>
        </p:nvSpPr>
        <p:spPr>
          <a:xfrm>
            <a:off x="731520" y="1783080"/>
            <a:ext cx="2194560" cy="274320"/>
          </a:xfrm>
          <a:prstGeom prst="rect">
            <a:avLst/>
          </a:prstGeom>
          <a:noFill/>
          <a:ln/>
        </p:spPr>
        <p:txBody>
          <a:bodyPr wrap="square" lIns="0" tIns="0" rIns="0" bIns="0" rtlCol="0" anchor="ctr"/>
          <a:lstStyle/>
          <a:p>
            <a:pPr indent="0" marL="0">
              <a:buNone/>
            </a:pPr>
            <a:r>
              <a:rPr lang="en-US" sz="1300" dirty="0">
                <a:solidFill>
                  <a:srgbClr val="6B7280"/>
                </a:solidFill>
                <a:latin typeface="Calibri" pitchFamily="34" charset="0"/>
                <a:ea typeface="Calibri" pitchFamily="34" charset="-122"/>
                <a:cs typeface="Calibri" pitchFamily="34" charset="-120"/>
              </a:rPr>
              <a:t>[Name, title]</a:t>
            </a:r>
            <a:endParaRPr lang="en-US" sz="1300" dirty="0"/>
          </a:p>
        </p:txBody>
      </p:sp>
      <p:sp>
        <p:nvSpPr>
          <p:cNvPr id="7" name="Text 5"/>
          <p:cNvSpPr txBox="1"/>
          <p:nvPr/>
        </p:nvSpPr>
        <p:spPr>
          <a:xfrm>
            <a:off x="731520" y="2194560"/>
            <a:ext cx="2194560" cy="914400"/>
          </a:xfrm>
          <a:prstGeom prst="rect">
            <a:avLst/>
          </a:prstGeom>
          <a:noFill/>
          <a:ln/>
        </p:spPr>
        <p:txBody>
          <a:bodyPr wrap="square" lIns="0" tIns="0" rIns="0" bIns="0" rtlCol="0" anchor="t"/>
          <a:lstStyle/>
          <a:p>
            <a:pPr indent="0" marL="0">
              <a:buNone/>
            </a:pPr>
            <a:r>
              <a:rPr lang="en-US" sz="1400" dirty="0">
                <a:solidFill>
                  <a:srgbClr val="1F2933"/>
                </a:solidFill>
                <a:latin typeface="Calibri" pitchFamily="34" charset="0"/>
                <a:ea typeface="Calibri" pitchFamily="34" charset="-122"/>
                <a:cs typeface="Calibri" pitchFamily="34" charset="-120"/>
              </a:rPr>
              <a:t>You said: [quote or paraphrase]</a:t>
            </a:r>
            <a:endParaRPr lang="en-US" sz="1400" dirty="0"/>
          </a:p>
        </p:txBody>
      </p:sp>
      <p:sp>
        <p:nvSpPr>
          <p:cNvPr id="8" name="Text 6"/>
          <p:cNvSpPr txBox="1"/>
          <p:nvPr/>
        </p:nvSpPr>
        <p:spPr>
          <a:xfrm>
            <a:off x="731520" y="3200400"/>
            <a:ext cx="2194560" cy="822960"/>
          </a:xfrm>
          <a:prstGeom prst="rect">
            <a:avLst/>
          </a:prstGeom>
          <a:noFill/>
          <a:ln/>
        </p:spPr>
        <p:txBody>
          <a:bodyPr wrap="square" lIns="0" tIns="0" rIns="0" bIns="0" rtlCol="0" anchor="t"/>
          <a:lstStyle/>
          <a:p>
            <a:pPr indent="0" marL="0">
              <a:buNone/>
            </a:pPr>
            <a:r>
              <a:rPr lang="en-US" sz="1400" b="1" dirty="0">
                <a:solidFill>
                  <a:srgbClr val="1F2933"/>
                </a:solidFill>
                <a:latin typeface="Calibri" pitchFamily="34" charset="0"/>
                <a:ea typeface="Calibri" pitchFamily="34" charset="-122"/>
                <a:cs typeface="Calibri" pitchFamily="34" charset="-120"/>
              </a:rPr>
              <a:t>Success: [what they want]</a:t>
            </a:r>
            <a:endParaRPr lang="en-US" sz="1400" dirty="0"/>
          </a:p>
        </p:txBody>
      </p:sp>
      <p:sp>
        <p:nvSpPr>
          <p:cNvPr id="9" name="per1"/>
          <p:cNvSpPr/>
          <p:nvPr/>
        </p:nvSpPr>
        <p:spPr>
          <a:xfrm>
            <a:off x="3291840" y="1280160"/>
            <a:ext cx="2560320" cy="2834640"/>
          </a:xfrm>
          <a:prstGeom prst="rect">
            <a:avLst/>
          </a:prstGeom>
          <a:solidFill>
            <a:srgbClr val="FFFFFF"/>
          </a:solidFill>
          <a:ln w="9525">
            <a:solidFill>
              <a:srgbClr val="D9DCE1"/>
            </a:solidFill>
            <a:prstDash val="solid"/>
          </a:ln>
        </p:spPr>
      </p:sp>
      <p:sp>
        <p:nvSpPr>
          <p:cNvPr id="10" name="Shape 8"/>
          <p:cNvSpPr/>
          <p:nvPr/>
        </p:nvSpPr>
        <p:spPr>
          <a:xfrm>
            <a:off x="3291840" y="1280160"/>
            <a:ext cx="2560320" cy="0"/>
          </a:xfrm>
          <a:prstGeom prst="line">
            <a:avLst/>
          </a:prstGeom>
          <a:noFill/>
          <a:ln w="38100">
            <a:solidFill>
              <a:srgbClr val="1F5FBF"/>
            </a:solidFill>
            <a:prstDash val="solid"/>
          </a:ln>
        </p:spPr>
      </p:sp>
      <p:sp>
        <p:nvSpPr>
          <p:cNvPr id="11" name="Text 9"/>
          <p:cNvSpPr txBox="1"/>
          <p:nvPr/>
        </p:nvSpPr>
        <p:spPr>
          <a:xfrm>
            <a:off x="3474720" y="1417320"/>
            <a:ext cx="2194560" cy="365760"/>
          </a:xfrm>
          <a:prstGeom prst="rect">
            <a:avLst/>
          </a:prstGeom>
          <a:noFill/>
          <a:ln/>
        </p:spPr>
        <p:txBody>
          <a:bodyPr wrap="square" lIns="0" tIns="0" rIns="0" bIns="0" rtlCol="0" anchor="ctr"/>
          <a:lstStyle/>
          <a:p>
            <a:pPr indent="0" marL="0">
              <a:buNone/>
            </a:pPr>
            <a:r>
              <a:rPr lang="en-US" sz="1600" b="1" dirty="0">
                <a:solidFill>
                  <a:srgbClr val="1F5FBF"/>
                </a:solidFill>
                <a:latin typeface="Calibri" pitchFamily="34" charset="0"/>
                <a:ea typeface="Calibri" pitchFamily="34" charset="-122"/>
                <a:cs typeface="Calibri" pitchFamily="34" charset="-120"/>
              </a:rPr>
              <a:t>Technical leader</a:t>
            </a:r>
            <a:endParaRPr lang="en-US" sz="1600" dirty="0"/>
          </a:p>
        </p:txBody>
      </p:sp>
      <p:sp>
        <p:nvSpPr>
          <p:cNvPr id="12" name="Text 10"/>
          <p:cNvSpPr txBox="1"/>
          <p:nvPr/>
        </p:nvSpPr>
        <p:spPr>
          <a:xfrm>
            <a:off x="3474720" y="1783080"/>
            <a:ext cx="2194560" cy="274320"/>
          </a:xfrm>
          <a:prstGeom prst="rect">
            <a:avLst/>
          </a:prstGeom>
          <a:noFill/>
          <a:ln/>
        </p:spPr>
        <p:txBody>
          <a:bodyPr wrap="square" lIns="0" tIns="0" rIns="0" bIns="0" rtlCol="0" anchor="ctr"/>
          <a:lstStyle/>
          <a:p>
            <a:pPr indent="0" marL="0">
              <a:buNone/>
            </a:pPr>
            <a:r>
              <a:rPr lang="en-US" sz="1300" dirty="0">
                <a:solidFill>
                  <a:srgbClr val="6B7280"/>
                </a:solidFill>
                <a:latin typeface="Calibri" pitchFamily="34" charset="0"/>
                <a:ea typeface="Calibri" pitchFamily="34" charset="-122"/>
                <a:cs typeface="Calibri" pitchFamily="34" charset="-120"/>
              </a:rPr>
              <a:t>[Name, title]</a:t>
            </a:r>
            <a:endParaRPr lang="en-US" sz="1300" dirty="0"/>
          </a:p>
        </p:txBody>
      </p:sp>
      <p:sp>
        <p:nvSpPr>
          <p:cNvPr id="13" name="Text 11"/>
          <p:cNvSpPr txBox="1"/>
          <p:nvPr/>
        </p:nvSpPr>
        <p:spPr>
          <a:xfrm>
            <a:off x="3474720" y="2194560"/>
            <a:ext cx="2194560" cy="914400"/>
          </a:xfrm>
          <a:prstGeom prst="rect">
            <a:avLst/>
          </a:prstGeom>
          <a:noFill/>
          <a:ln/>
        </p:spPr>
        <p:txBody>
          <a:bodyPr wrap="square" lIns="0" tIns="0" rIns="0" bIns="0" rtlCol="0" anchor="t"/>
          <a:lstStyle/>
          <a:p>
            <a:pPr indent="0" marL="0">
              <a:buNone/>
            </a:pPr>
            <a:r>
              <a:rPr lang="en-US" sz="1400" dirty="0">
                <a:solidFill>
                  <a:srgbClr val="1F2933"/>
                </a:solidFill>
                <a:latin typeface="Calibri" pitchFamily="34" charset="0"/>
                <a:ea typeface="Calibri" pitchFamily="34" charset="-122"/>
                <a:cs typeface="Calibri" pitchFamily="34" charset="-120"/>
              </a:rPr>
              <a:t>You said: [quote]</a:t>
            </a:r>
            <a:endParaRPr lang="en-US" sz="1400" dirty="0"/>
          </a:p>
        </p:txBody>
      </p:sp>
      <p:sp>
        <p:nvSpPr>
          <p:cNvPr id="14" name="Text 12"/>
          <p:cNvSpPr txBox="1"/>
          <p:nvPr/>
        </p:nvSpPr>
        <p:spPr>
          <a:xfrm>
            <a:off x="3474720" y="3200400"/>
            <a:ext cx="2194560" cy="822960"/>
          </a:xfrm>
          <a:prstGeom prst="rect">
            <a:avLst/>
          </a:prstGeom>
          <a:noFill/>
          <a:ln/>
        </p:spPr>
        <p:txBody>
          <a:bodyPr wrap="square" lIns="0" tIns="0" rIns="0" bIns="0" rtlCol="0" anchor="t"/>
          <a:lstStyle/>
          <a:p>
            <a:pPr indent="0" marL="0">
              <a:buNone/>
            </a:pPr>
            <a:r>
              <a:rPr lang="en-US" sz="1400" b="1" dirty="0">
                <a:solidFill>
                  <a:srgbClr val="1F2933"/>
                </a:solidFill>
                <a:latin typeface="Calibri" pitchFamily="34" charset="0"/>
                <a:ea typeface="Calibri" pitchFamily="34" charset="-122"/>
                <a:cs typeface="Calibri" pitchFamily="34" charset="-120"/>
              </a:rPr>
              <a:t>Success: [what they want]</a:t>
            </a:r>
            <a:endParaRPr lang="en-US" sz="1400" dirty="0"/>
          </a:p>
        </p:txBody>
      </p:sp>
      <p:sp>
        <p:nvSpPr>
          <p:cNvPr id="15" name="per2"/>
          <p:cNvSpPr/>
          <p:nvPr/>
        </p:nvSpPr>
        <p:spPr>
          <a:xfrm>
            <a:off x="6035040" y="1280160"/>
            <a:ext cx="2560320" cy="2834640"/>
          </a:xfrm>
          <a:prstGeom prst="rect">
            <a:avLst/>
          </a:prstGeom>
          <a:solidFill>
            <a:srgbClr val="FFFFFF"/>
          </a:solidFill>
          <a:ln w="9525">
            <a:solidFill>
              <a:srgbClr val="D9DCE1"/>
            </a:solidFill>
            <a:prstDash val="solid"/>
          </a:ln>
        </p:spPr>
      </p:sp>
      <p:sp>
        <p:nvSpPr>
          <p:cNvPr id="16" name="Shape 14"/>
          <p:cNvSpPr/>
          <p:nvPr/>
        </p:nvSpPr>
        <p:spPr>
          <a:xfrm>
            <a:off x="6035040" y="1280160"/>
            <a:ext cx="2560320" cy="0"/>
          </a:xfrm>
          <a:prstGeom prst="line">
            <a:avLst/>
          </a:prstGeom>
          <a:noFill/>
          <a:ln w="38100">
            <a:solidFill>
              <a:srgbClr val="1F5FBF"/>
            </a:solidFill>
            <a:prstDash val="solid"/>
          </a:ln>
        </p:spPr>
      </p:sp>
      <p:sp>
        <p:nvSpPr>
          <p:cNvPr id="17" name="Text 15"/>
          <p:cNvSpPr txBox="1"/>
          <p:nvPr/>
        </p:nvSpPr>
        <p:spPr>
          <a:xfrm>
            <a:off x="6217920" y="1417320"/>
            <a:ext cx="2194560" cy="365760"/>
          </a:xfrm>
          <a:prstGeom prst="rect">
            <a:avLst/>
          </a:prstGeom>
          <a:noFill/>
          <a:ln/>
        </p:spPr>
        <p:txBody>
          <a:bodyPr wrap="square" lIns="0" tIns="0" rIns="0" bIns="0" rtlCol="0" anchor="ctr"/>
          <a:lstStyle/>
          <a:p>
            <a:pPr indent="0" marL="0">
              <a:buNone/>
            </a:pPr>
            <a:r>
              <a:rPr lang="en-US" sz="1600" b="1" dirty="0">
                <a:solidFill>
                  <a:srgbClr val="1F5FBF"/>
                </a:solidFill>
                <a:latin typeface="Calibri" pitchFamily="34" charset="0"/>
                <a:ea typeface="Calibri" pitchFamily="34" charset="-122"/>
                <a:cs typeface="Calibri" pitchFamily="34" charset="-120"/>
              </a:rPr>
              <a:t>Business / analytics leader</a:t>
            </a:r>
            <a:endParaRPr lang="en-US" sz="1600" dirty="0"/>
          </a:p>
        </p:txBody>
      </p:sp>
      <p:sp>
        <p:nvSpPr>
          <p:cNvPr id="18" name="Text 16"/>
          <p:cNvSpPr txBox="1"/>
          <p:nvPr/>
        </p:nvSpPr>
        <p:spPr>
          <a:xfrm>
            <a:off x="6217920" y="1783080"/>
            <a:ext cx="2194560" cy="274320"/>
          </a:xfrm>
          <a:prstGeom prst="rect">
            <a:avLst/>
          </a:prstGeom>
          <a:noFill/>
          <a:ln/>
        </p:spPr>
        <p:txBody>
          <a:bodyPr wrap="square" lIns="0" tIns="0" rIns="0" bIns="0" rtlCol="0" anchor="ctr"/>
          <a:lstStyle/>
          <a:p>
            <a:pPr indent="0" marL="0">
              <a:buNone/>
            </a:pPr>
            <a:r>
              <a:rPr lang="en-US" sz="1300" dirty="0">
                <a:solidFill>
                  <a:srgbClr val="6B7280"/>
                </a:solidFill>
                <a:latin typeface="Calibri" pitchFamily="34" charset="0"/>
                <a:ea typeface="Calibri" pitchFamily="34" charset="-122"/>
                <a:cs typeface="Calibri" pitchFamily="34" charset="-120"/>
              </a:rPr>
              <a:t>[Name, title]</a:t>
            </a:r>
            <a:endParaRPr lang="en-US" sz="1300" dirty="0"/>
          </a:p>
        </p:txBody>
      </p:sp>
      <p:sp>
        <p:nvSpPr>
          <p:cNvPr id="19" name="Text 17"/>
          <p:cNvSpPr txBox="1"/>
          <p:nvPr/>
        </p:nvSpPr>
        <p:spPr>
          <a:xfrm>
            <a:off x="6217920" y="2194560"/>
            <a:ext cx="2194560" cy="914400"/>
          </a:xfrm>
          <a:prstGeom prst="rect">
            <a:avLst/>
          </a:prstGeom>
          <a:noFill/>
          <a:ln/>
        </p:spPr>
        <p:txBody>
          <a:bodyPr wrap="square" lIns="0" tIns="0" rIns="0" bIns="0" rtlCol="0" anchor="t"/>
          <a:lstStyle/>
          <a:p>
            <a:pPr indent="0" marL="0">
              <a:buNone/>
            </a:pPr>
            <a:r>
              <a:rPr lang="en-US" sz="1400" dirty="0">
                <a:solidFill>
                  <a:srgbClr val="1F2933"/>
                </a:solidFill>
                <a:latin typeface="Calibri" pitchFamily="34" charset="0"/>
                <a:ea typeface="Calibri" pitchFamily="34" charset="-122"/>
                <a:cs typeface="Calibri" pitchFamily="34" charset="-120"/>
              </a:rPr>
              <a:t>You said: [quote]</a:t>
            </a:r>
            <a:endParaRPr lang="en-US" sz="1400" dirty="0"/>
          </a:p>
        </p:txBody>
      </p:sp>
      <p:sp>
        <p:nvSpPr>
          <p:cNvPr id="20" name="Text 18"/>
          <p:cNvSpPr txBox="1"/>
          <p:nvPr/>
        </p:nvSpPr>
        <p:spPr>
          <a:xfrm>
            <a:off x="6217920" y="3200400"/>
            <a:ext cx="2194560" cy="822960"/>
          </a:xfrm>
          <a:prstGeom prst="rect">
            <a:avLst/>
          </a:prstGeom>
          <a:noFill/>
          <a:ln/>
        </p:spPr>
        <p:txBody>
          <a:bodyPr wrap="square" lIns="0" tIns="0" rIns="0" bIns="0" rtlCol="0" anchor="t"/>
          <a:lstStyle/>
          <a:p>
            <a:pPr indent="0" marL="0">
              <a:buNone/>
            </a:pPr>
            <a:r>
              <a:rPr lang="en-US" sz="1400" b="1" dirty="0">
                <a:solidFill>
                  <a:srgbClr val="1F2933"/>
                </a:solidFill>
                <a:latin typeface="Calibri" pitchFamily="34" charset="0"/>
                <a:ea typeface="Calibri" pitchFamily="34" charset="-122"/>
                <a:cs typeface="Calibri" pitchFamily="34" charset="-120"/>
              </a:rPr>
              <a:t>Success: [what they want]</a:t>
            </a:r>
            <a:endParaRPr lang="en-US" sz="1400" dirty="0"/>
          </a:p>
        </p:txBody>
      </p:sp>
      <p:sp>
        <p:nvSpPr>
          <p:cNvPr id="21" name="Text 19"/>
          <p:cNvSpPr txBox="1"/>
          <p:nvPr/>
        </p:nvSpPr>
        <p:spPr>
          <a:xfrm>
            <a:off x="548640" y="4297680"/>
            <a:ext cx="8046720" cy="365760"/>
          </a:xfrm>
          <a:prstGeom prst="rect">
            <a:avLst/>
          </a:prstGeom>
          <a:noFill/>
          <a:ln/>
        </p:spPr>
        <p:txBody>
          <a:bodyPr wrap="square" lIns="0" tIns="0" rIns="0" bIns="0" rtlCol="0" anchor="ctr"/>
          <a:lstStyle/>
          <a:p>
            <a:pPr indent="0" marL="0">
              <a:buNone/>
            </a:pPr>
            <a:r>
              <a:rPr lang="en-US" sz="1600" i="1" dirty="0">
                <a:solidFill>
                  <a:srgbClr val="1F5FBF"/>
                </a:solidFill>
                <a:latin typeface="Calibri" pitchFamily="34" charset="0"/>
                <a:ea typeface="Calibri" pitchFamily="34" charset="-122"/>
                <a:cs typeface="Calibri" pitchFamily="34" charset="-120"/>
              </a:rPr>
              <a:t>Did I get that right? What did I miss?</a:t>
            </a:r>
            <a:endParaRPr lang="en-US" sz="1600" dirty="0"/>
          </a:p>
        </p:txBody>
      </p:sp>
      <p:sp>
        <p:nvSpPr>
          <p:cNvPr id="25" name="Slide Number Placeholder 0"/>
          <p:cNvSpPr>
            <a:spLocks noGrp="1"/>
          </p:cNvSpPr>
          <p:nvPr>
            <p:ph type="sldNum" sz="quarter" idx="4294967295"/>
          </p:nvPr>
        </p:nvSpPr>
        <p:spPr>
          <a:xfrm>
            <a:off x="8412480" y="4800600"/>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rgbClr val="6B7280"/>
                </a:solidFill>
              </a:defRPr>
            </a:lvl1pPr>
          </a:lstStyle>
          <a:p>
            <a:pPr algn="l"/>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8046720" cy="731520"/>
          </a:xfrm>
          <a:prstGeom prst="rect">
            <a:avLst/>
          </a:prstGeom>
          <a:noFill/>
          <a:ln/>
        </p:spPr>
        <p:txBody>
          <a:bodyPr wrap="square" lIns="0" tIns="0" rIns="0" bIns="0" rtlCol="0" anchor="ctr"/>
          <a:lstStyle/>
          <a:p>
            <a:pPr algn="l" indent="0" marL="0">
              <a:buNone/>
            </a:pPr>
            <a:r>
              <a:rPr lang="en-US" sz="3000" b="1" dirty="0">
                <a:solidFill>
                  <a:srgbClr val="1F2933"/>
                </a:solidFill>
                <a:latin typeface="Calibri" pitchFamily="34" charset="0"/>
                <a:ea typeface="Calibri" pitchFamily="34" charset="-122"/>
                <a:cs typeface="Calibri" pitchFamily="34" charset="-120"/>
              </a:rPr>
              <a:t>What changes for each of you</a:t>
            </a:r>
            <a:endParaRPr lang="en-US" sz="3000" dirty="0"/>
          </a:p>
        </p:txBody>
      </p:sp>
      <p:graphicFrame>
        <p:nvGraphicFramePr>
          <p:cNvPr id="4" name="valuetable"/>
          <p:cNvGraphicFramePr>
            <a:graphicFrameLocks noGrp="1"/>
          </p:cNvGraphicFramePr>
          <p:nvPr>
            <p:extLst>
              <p:ext uri="{D42A27DB-BD31-4B8C-83A1-F6EECF244321}">
                <p14:modId xmlns:p14="http://schemas.microsoft.com/office/powerpoint/2010/main" val="1579011935"/>
              </p:ext>
            </p:extLst>
          </p:nvPr>
        </p:nvGraphicFramePr>
        <p:xfrm>
          <a:off x="548640" y="1280160"/>
          <a:ext cx="8046720" cy="914400"/>
        </p:xfrm>
        <a:graphic>
          <a:graphicData uri="http://schemas.openxmlformats.org/drawingml/2006/table">
            <a:tbl>
              <a:tblPr/>
              <a:tblGrid>
                <a:gridCol w="1554480"/>
                <a:gridCol w="1920240"/>
                <a:gridCol w="1920240"/>
                <a:gridCol w="2651760"/>
              </a:tblGrid>
              <a:tr h="411480">
                <a:tc>
                  <a:txBody>
                    <a:bodyPr/>
                    <a:lstStyle/>
                    <a:p>
                      <a:pPr indent="0" marL="0">
                        <a:buNone/>
                      </a:pPr>
                      <a:r>
                        <a:rPr lang="en-US" sz="1300" b="1" dirty="0">
                          <a:solidFill>
                            <a:srgbClr val="FFFFFF"/>
                          </a:solidFill>
                        </a:rPr>
                        <a:t>Who</a:t>
                      </a:r>
                      <a:endParaRPr lang="en-US" sz="1300" dirty="0"/>
                    </a:p>
                  </a:txBody>
                  <a:tcPr marL="73152" marR="73152" marT="73152" marB="73152" anchor="ctr">
                    <a:lnL w="9525" cap="flat" cmpd="sng" algn="ctr">
                      <a:solidFill>
                        <a:srgbClr val="D9DCE1"/>
                      </a:solidFill>
                      <a:prstDash val="solid"/>
                      <a:round/>
                      <a:headEnd type="none" w="med" len="med"/>
                      <a:tailEnd type="none" w="med" len="med"/>
                    </a:lnL>
                    <a:lnR w="9525" cap="flat" cmpd="sng" algn="ctr">
                      <a:solidFill>
                        <a:srgbClr val="D9DCE1"/>
                      </a:solidFill>
                      <a:prstDash val="solid"/>
                      <a:round/>
                      <a:headEnd type="none" w="med" len="med"/>
                      <a:tailEnd type="none" w="med" len="med"/>
                    </a:lnR>
                    <a:lnT w="9525" cap="flat" cmpd="sng" algn="ctr">
                      <a:solidFill>
                        <a:srgbClr val="D9DCE1"/>
                      </a:solidFill>
                      <a:prstDash val="solid"/>
                      <a:round/>
                      <a:headEnd type="none" w="med" len="med"/>
                      <a:tailEnd type="none" w="med" len="med"/>
                    </a:lnT>
                    <a:lnB w="9525" cap="flat" cmpd="sng" algn="ctr">
                      <a:solidFill>
                        <a:srgbClr val="D9DCE1"/>
                      </a:solidFill>
                      <a:prstDash val="solid"/>
                      <a:round/>
                      <a:headEnd type="none" w="med" len="med"/>
                      <a:tailEnd type="none" w="med" len="med"/>
                    </a:lnB>
                    <a:solidFill>
                      <a:srgbClr val="1F5FBF"/>
                    </a:solidFill>
                  </a:tcPr>
                </a:tc>
                <a:tc>
                  <a:txBody>
                    <a:bodyPr/>
                    <a:lstStyle/>
                    <a:p>
                      <a:pPr indent="0" marL="0">
                        <a:buNone/>
                      </a:pPr>
                      <a:r>
                        <a:rPr lang="en-US" sz="1300" b="1" dirty="0">
                          <a:solidFill>
                            <a:srgbClr val="FFFFFF"/>
                          </a:solidFill>
                        </a:rPr>
                        <a:t>Today</a:t>
                      </a:r>
                      <a:endParaRPr lang="en-US" sz="1300" dirty="0"/>
                    </a:p>
                  </a:txBody>
                  <a:tcPr marL="73152" marR="73152" marT="73152" marB="73152" anchor="ctr">
                    <a:lnL w="9525" cap="flat" cmpd="sng" algn="ctr">
                      <a:solidFill>
                        <a:srgbClr val="D9DCE1"/>
                      </a:solidFill>
                      <a:prstDash val="solid"/>
                      <a:round/>
                      <a:headEnd type="none" w="med" len="med"/>
                      <a:tailEnd type="none" w="med" len="med"/>
                    </a:lnL>
                    <a:lnR w="9525" cap="flat" cmpd="sng" algn="ctr">
                      <a:solidFill>
                        <a:srgbClr val="D9DCE1"/>
                      </a:solidFill>
                      <a:prstDash val="solid"/>
                      <a:round/>
                      <a:headEnd type="none" w="med" len="med"/>
                      <a:tailEnd type="none" w="med" len="med"/>
                    </a:lnR>
                    <a:lnT w="9525" cap="flat" cmpd="sng" algn="ctr">
                      <a:solidFill>
                        <a:srgbClr val="D9DCE1"/>
                      </a:solidFill>
                      <a:prstDash val="solid"/>
                      <a:round/>
                      <a:headEnd type="none" w="med" len="med"/>
                      <a:tailEnd type="none" w="med" len="med"/>
                    </a:lnT>
                    <a:lnB w="9525" cap="flat" cmpd="sng" algn="ctr">
                      <a:solidFill>
                        <a:srgbClr val="D9DCE1"/>
                      </a:solidFill>
                      <a:prstDash val="solid"/>
                      <a:round/>
                      <a:headEnd type="none" w="med" len="med"/>
                      <a:tailEnd type="none" w="med" len="med"/>
                    </a:lnB>
                    <a:solidFill>
                      <a:srgbClr val="1F5FBF"/>
                    </a:solidFill>
                  </a:tcPr>
                </a:tc>
                <a:tc>
                  <a:txBody>
                    <a:bodyPr/>
                    <a:lstStyle/>
                    <a:p>
                      <a:pPr indent="0" marL="0">
                        <a:buNone/>
                      </a:pPr>
                      <a:r>
                        <a:rPr lang="en-US" sz="1300" b="1" dirty="0">
                          <a:solidFill>
                            <a:srgbClr val="FFFFFF"/>
                          </a:solidFill>
                        </a:rPr>
                        <a:t>With this</a:t>
                      </a:r>
                      <a:endParaRPr lang="en-US" sz="1300" dirty="0"/>
                    </a:p>
                  </a:txBody>
                  <a:tcPr marL="73152" marR="73152" marT="73152" marB="73152" anchor="ctr">
                    <a:lnL w="9525" cap="flat" cmpd="sng" algn="ctr">
                      <a:solidFill>
                        <a:srgbClr val="D9DCE1"/>
                      </a:solidFill>
                      <a:prstDash val="solid"/>
                      <a:round/>
                      <a:headEnd type="none" w="med" len="med"/>
                      <a:tailEnd type="none" w="med" len="med"/>
                    </a:lnL>
                    <a:lnR w="9525" cap="flat" cmpd="sng" algn="ctr">
                      <a:solidFill>
                        <a:srgbClr val="D9DCE1"/>
                      </a:solidFill>
                      <a:prstDash val="solid"/>
                      <a:round/>
                      <a:headEnd type="none" w="med" len="med"/>
                      <a:tailEnd type="none" w="med" len="med"/>
                    </a:lnR>
                    <a:lnT w="9525" cap="flat" cmpd="sng" algn="ctr">
                      <a:solidFill>
                        <a:srgbClr val="D9DCE1"/>
                      </a:solidFill>
                      <a:prstDash val="solid"/>
                      <a:round/>
                      <a:headEnd type="none" w="med" len="med"/>
                      <a:tailEnd type="none" w="med" len="med"/>
                    </a:lnT>
                    <a:lnB w="9525" cap="flat" cmpd="sng" algn="ctr">
                      <a:solidFill>
                        <a:srgbClr val="D9DCE1"/>
                      </a:solidFill>
                      <a:prstDash val="solid"/>
                      <a:round/>
                      <a:headEnd type="none" w="med" len="med"/>
                      <a:tailEnd type="none" w="med" len="med"/>
                    </a:lnB>
                    <a:solidFill>
                      <a:srgbClr val="1F5FBF"/>
                    </a:solidFill>
                  </a:tcPr>
                </a:tc>
                <a:tc>
                  <a:txBody>
                    <a:bodyPr/>
                    <a:lstStyle/>
                    <a:p>
                      <a:pPr indent="0" marL="0">
                        <a:buNone/>
                      </a:pPr>
                      <a:r>
                        <a:rPr lang="en-US" sz="1300" b="1" dirty="0">
                          <a:solidFill>
                            <a:srgbClr val="FFFFFF"/>
                          </a:solidFill>
                        </a:rPr>
                        <a:t>Business value, and how we will know</a:t>
                      </a:r>
                      <a:endParaRPr lang="en-US" sz="1300" dirty="0"/>
                    </a:p>
                  </a:txBody>
                  <a:tcPr marL="73152" marR="73152" marT="73152" marB="73152" anchor="ctr">
                    <a:lnL w="9525" cap="flat" cmpd="sng" algn="ctr">
                      <a:solidFill>
                        <a:srgbClr val="D9DCE1"/>
                      </a:solidFill>
                      <a:prstDash val="solid"/>
                      <a:round/>
                      <a:headEnd type="none" w="med" len="med"/>
                      <a:tailEnd type="none" w="med" len="med"/>
                    </a:lnL>
                    <a:lnR w="9525" cap="flat" cmpd="sng" algn="ctr">
                      <a:solidFill>
                        <a:srgbClr val="D9DCE1"/>
                      </a:solidFill>
                      <a:prstDash val="solid"/>
                      <a:round/>
                      <a:headEnd type="none" w="med" len="med"/>
                      <a:tailEnd type="none" w="med" len="med"/>
                    </a:lnR>
                    <a:lnT w="9525" cap="flat" cmpd="sng" algn="ctr">
                      <a:solidFill>
                        <a:srgbClr val="D9DCE1"/>
                      </a:solidFill>
                      <a:prstDash val="solid"/>
                      <a:round/>
                      <a:headEnd type="none" w="med" len="med"/>
                      <a:tailEnd type="none" w="med" len="med"/>
                    </a:lnT>
                    <a:lnB w="9525" cap="flat" cmpd="sng" algn="ctr">
                      <a:solidFill>
                        <a:srgbClr val="D9DCE1"/>
                      </a:solidFill>
                      <a:prstDash val="solid"/>
                      <a:round/>
                      <a:headEnd type="none" w="med" len="med"/>
                      <a:tailEnd type="none" w="med" len="med"/>
                    </a:lnB>
                    <a:solidFill>
                      <a:srgbClr val="1F5FBF"/>
                    </a:solidFill>
                  </a:tcPr>
                </a:tc>
              </a:tr>
              <a:tr h="640080">
                <a:tc>
                  <a:txBody>
                    <a:bodyPr/>
                    <a:lstStyle/>
                    <a:p>
                      <a:pPr indent="0" marL="0">
                        <a:buNone/>
                      </a:pPr>
                      <a:r>
                        <a:rPr lang="en-US" sz="1300" b="1" dirty="0">
                          <a:solidFill>
                            <a:srgbClr val="1F2933"/>
                          </a:solidFill>
                        </a:rPr>
                        <a:t>Executive</a:t>
                      </a:r>
                      <a:endParaRPr lang="en-US" sz="1300" dirty="0"/>
                    </a:p>
                  </a:txBody>
                  <a:tcPr marL="73152" marR="73152" marT="73152" marB="73152" anchor="ctr">
                    <a:lnL w="9525" cap="flat" cmpd="sng" algn="ctr">
                      <a:solidFill>
                        <a:srgbClr val="D9DCE1"/>
                      </a:solidFill>
                      <a:prstDash val="solid"/>
                      <a:round/>
                      <a:headEnd type="none" w="med" len="med"/>
                      <a:tailEnd type="none" w="med" len="med"/>
                    </a:lnL>
                    <a:lnR w="9525" cap="flat" cmpd="sng" algn="ctr">
                      <a:solidFill>
                        <a:srgbClr val="D9DCE1"/>
                      </a:solidFill>
                      <a:prstDash val="solid"/>
                      <a:round/>
                      <a:headEnd type="none" w="med" len="med"/>
                      <a:tailEnd type="none" w="med" len="med"/>
                    </a:lnR>
                    <a:lnT w="9525" cap="flat" cmpd="sng" algn="ctr">
                      <a:solidFill>
                        <a:srgbClr val="D9DCE1"/>
                      </a:solidFill>
                      <a:prstDash val="solid"/>
                      <a:round/>
                      <a:headEnd type="none" w="med" len="med"/>
                      <a:tailEnd type="none" w="med" len="med"/>
                    </a:lnT>
                    <a:lnB w="9525" cap="flat" cmpd="sng" algn="ctr">
                      <a:solidFill>
                        <a:srgbClr val="D9DCE1"/>
                      </a:solidFill>
                      <a:prstDash val="solid"/>
                      <a:round/>
                      <a:headEnd type="none" w="med" len="med"/>
                      <a:tailEnd type="none" w="med" len="med"/>
                    </a:lnB>
                    <a:solidFill>
                      <a:srgbClr val="FFFFFF"/>
                    </a:solidFill>
                  </a:tcPr>
                </a:tc>
                <a:tc>
                  <a:txBody>
                    <a:bodyPr/>
                    <a:lstStyle/>
                    <a:p>
                      <a:pPr indent="0" marL="0">
                        <a:buNone/>
                      </a:pPr>
                      <a:r>
                        <a:rPr lang="en-US" sz="1300" dirty="0">
                          <a:solidFill>
                            <a:srgbClr val="1F2933"/>
                          </a:solidFill>
                        </a:rPr>
                        <a:t>[pain in business terms]</a:t>
                      </a:r>
                      <a:endParaRPr lang="en-US" sz="1300" dirty="0"/>
                    </a:p>
                  </a:txBody>
                  <a:tcPr marL="73152" marR="73152" marT="73152" marB="73152" anchor="ctr">
                    <a:lnL w="9525" cap="flat" cmpd="sng" algn="ctr">
                      <a:solidFill>
                        <a:srgbClr val="D9DCE1"/>
                      </a:solidFill>
                      <a:prstDash val="solid"/>
                      <a:round/>
                      <a:headEnd type="none" w="med" len="med"/>
                      <a:tailEnd type="none" w="med" len="med"/>
                    </a:lnL>
                    <a:lnR w="9525" cap="flat" cmpd="sng" algn="ctr">
                      <a:solidFill>
                        <a:srgbClr val="D9DCE1"/>
                      </a:solidFill>
                      <a:prstDash val="solid"/>
                      <a:round/>
                      <a:headEnd type="none" w="med" len="med"/>
                      <a:tailEnd type="none" w="med" len="med"/>
                    </a:lnR>
                    <a:lnT w="9525" cap="flat" cmpd="sng" algn="ctr">
                      <a:solidFill>
                        <a:srgbClr val="D9DCE1"/>
                      </a:solidFill>
                      <a:prstDash val="solid"/>
                      <a:round/>
                      <a:headEnd type="none" w="med" len="med"/>
                      <a:tailEnd type="none" w="med" len="med"/>
                    </a:lnT>
                    <a:lnB w="9525" cap="flat" cmpd="sng" algn="ctr">
                      <a:solidFill>
                        <a:srgbClr val="D9DCE1"/>
                      </a:solidFill>
                      <a:prstDash val="solid"/>
                      <a:round/>
                      <a:headEnd type="none" w="med" len="med"/>
                      <a:tailEnd type="none" w="med" len="med"/>
                    </a:lnB>
                    <a:solidFill>
                      <a:srgbClr val="FFFFFF"/>
                    </a:solidFill>
                  </a:tcPr>
                </a:tc>
                <a:tc>
                  <a:txBody>
                    <a:bodyPr/>
                    <a:lstStyle/>
                    <a:p>
                      <a:pPr indent="0" marL="0">
                        <a:buNone/>
                      </a:pPr>
                      <a:r>
                        <a:rPr lang="en-US" sz="1300" dirty="0">
                          <a:solidFill>
                            <a:srgbClr val="1F2933"/>
                          </a:solidFill>
                        </a:rPr>
                        <a:t>[what is different]</a:t>
                      </a:r>
                      <a:endParaRPr lang="en-US" sz="1300" dirty="0"/>
                    </a:p>
                  </a:txBody>
                  <a:tcPr marL="73152" marR="73152" marT="73152" marB="73152" anchor="ctr">
                    <a:lnL w="9525" cap="flat" cmpd="sng" algn="ctr">
                      <a:solidFill>
                        <a:srgbClr val="D9DCE1"/>
                      </a:solidFill>
                      <a:prstDash val="solid"/>
                      <a:round/>
                      <a:headEnd type="none" w="med" len="med"/>
                      <a:tailEnd type="none" w="med" len="med"/>
                    </a:lnL>
                    <a:lnR w="9525" cap="flat" cmpd="sng" algn="ctr">
                      <a:solidFill>
                        <a:srgbClr val="D9DCE1"/>
                      </a:solidFill>
                      <a:prstDash val="solid"/>
                      <a:round/>
                      <a:headEnd type="none" w="med" len="med"/>
                      <a:tailEnd type="none" w="med" len="med"/>
                    </a:lnR>
                    <a:lnT w="9525" cap="flat" cmpd="sng" algn="ctr">
                      <a:solidFill>
                        <a:srgbClr val="D9DCE1"/>
                      </a:solidFill>
                      <a:prstDash val="solid"/>
                      <a:round/>
                      <a:headEnd type="none" w="med" len="med"/>
                      <a:tailEnd type="none" w="med" len="med"/>
                    </a:lnT>
                    <a:lnB w="9525" cap="flat" cmpd="sng" algn="ctr">
                      <a:solidFill>
                        <a:srgbClr val="D9DCE1"/>
                      </a:solidFill>
                      <a:prstDash val="solid"/>
                      <a:round/>
                      <a:headEnd type="none" w="med" len="med"/>
                      <a:tailEnd type="none" w="med" len="med"/>
                    </a:lnB>
                    <a:solidFill>
                      <a:srgbClr val="FFFFFF"/>
                    </a:solidFill>
                  </a:tcPr>
                </a:tc>
                <a:tc>
                  <a:txBody>
                    <a:bodyPr/>
                    <a:lstStyle/>
                    <a:p>
                      <a:pPr indent="0" marL="0">
                        <a:buNone/>
                      </a:pPr>
                      <a:r>
                        <a:rPr lang="en-US" sz="1300" dirty="0">
                          <a:solidFill>
                            <a:srgbClr val="1F2933"/>
                          </a:solidFill>
                        </a:rPr>
                        <a:t>[outcome]: measured by [metric]</a:t>
                      </a:r>
                      <a:endParaRPr lang="en-US" sz="1300" dirty="0"/>
                    </a:p>
                  </a:txBody>
                  <a:tcPr marL="73152" marR="73152" marT="73152" marB="73152" anchor="ctr">
                    <a:lnL w="9525" cap="flat" cmpd="sng" algn="ctr">
                      <a:solidFill>
                        <a:srgbClr val="D9DCE1"/>
                      </a:solidFill>
                      <a:prstDash val="solid"/>
                      <a:round/>
                      <a:headEnd type="none" w="med" len="med"/>
                      <a:tailEnd type="none" w="med" len="med"/>
                    </a:lnL>
                    <a:lnR w="9525" cap="flat" cmpd="sng" algn="ctr">
                      <a:solidFill>
                        <a:srgbClr val="D9DCE1"/>
                      </a:solidFill>
                      <a:prstDash val="solid"/>
                      <a:round/>
                      <a:headEnd type="none" w="med" len="med"/>
                      <a:tailEnd type="none" w="med" len="med"/>
                    </a:lnR>
                    <a:lnT w="9525" cap="flat" cmpd="sng" algn="ctr">
                      <a:solidFill>
                        <a:srgbClr val="D9DCE1"/>
                      </a:solidFill>
                      <a:prstDash val="solid"/>
                      <a:round/>
                      <a:headEnd type="none" w="med" len="med"/>
                      <a:tailEnd type="none" w="med" len="med"/>
                    </a:lnT>
                    <a:lnB w="9525" cap="flat" cmpd="sng" algn="ctr">
                      <a:solidFill>
                        <a:srgbClr val="D9DCE1"/>
                      </a:solidFill>
                      <a:prstDash val="solid"/>
                      <a:round/>
                      <a:headEnd type="none" w="med" len="med"/>
                      <a:tailEnd type="none" w="med" len="med"/>
                    </a:lnB>
                    <a:solidFill>
                      <a:srgbClr val="FFFFFF"/>
                    </a:solidFill>
                  </a:tcPr>
                </a:tc>
              </a:tr>
              <a:tr h="640080">
                <a:tc>
                  <a:txBody>
                    <a:bodyPr/>
                    <a:lstStyle/>
                    <a:p>
                      <a:pPr indent="0" marL="0">
                        <a:buNone/>
                      </a:pPr>
                      <a:r>
                        <a:rPr lang="en-US" sz="1300" b="1" dirty="0">
                          <a:solidFill>
                            <a:srgbClr val="1F2933"/>
                          </a:solidFill>
                        </a:rPr>
                        <a:t>Technical leader</a:t>
                      </a:r>
                      <a:endParaRPr lang="en-US" sz="1300" dirty="0"/>
                    </a:p>
                  </a:txBody>
                  <a:tcPr marL="73152" marR="73152" marT="73152" marB="73152" anchor="ctr">
                    <a:lnL w="9525" cap="flat" cmpd="sng" algn="ctr">
                      <a:solidFill>
                        <a:srgbClr val="D9DCE1"/>
                      </a:solidFill>
                      <a:prstDash val="solid"/>
                      <a:round/>
                      <a:headEnd type="none" w="med" len="med"/>
                      <a:tailEnd type="none" w="med" len="med"/>
                    </a:lnL>
                    <a:lnR w="9525" cap="flat" cmpd="sng" algn="ctr">
                      <a:solidFill>
                        <a:srgbClr val="D9DCE1"/>
                      </a:solidFill>
                      <a:prstDash val="solid"/>
                      <a:round/>
                      <a:headEnd type="none" w="med" len="med"/>
                      <a:tailEnd type="none" w="med" len="med"/>
                    </a:lnR>
                    <a:lnT w="9525" cap="flat" cmpd="sng" algn="ctr">
                      <a:solidFill>
                        <a:srgbClr val="D9DCE1"/>
                      </a:solidFill>
                      <a:prstDash val="solid"/>
                      <a:round/>
                      <a:headEnd type="none" w="med" len="med"/>
                      <a:tailEnd type="none" w="med" len="med"/>
                    </a:lnT>
                    <a:lnB w="9525" cap="flat" cmpd="sng" algn="ctr">
                      <a:solidFill>
                        <a:srgbClr val="D9DCE1"/>
                      </a:solidFill>
                      <a:prstDash val="solid"/>
                      <a:round/>
                      <a:headEnd type="none" w="med" len="med"/>
                      <a:tailEnd type="none" w="med" len="med"/>
                    </a:lnB>
                    <a:solidFill>
                      <a:srgbClr val="FFFFFF"/>
                    </a:solidFill>
                  </a:tcPr>
                </a:tc>
                <a:tc>
                  <a:txBody>
                    <a:bodyPr/>
                    <a:lstStyle/>
                    <a:p>
                      <a:pPr indent="0" marL="0">
                        <a:buNone/>
                      </a:pPr>
                      <a:r>
                        <a:rPr lang="en-US" sz="1300" dirty="0">
                          <a:solidFill>
                            <a:srgbClr val="1F2933"/>
                          </a:solidFill>
                        </a:rPr>
                        <a:t>[constraint]</a:t>
                      </a:r>
                      <a:endParaRPr lang="en-US" sz="1300" dirty="0"/>
                    </a:p>
                  </a:txBody>
                  <a:tcPr marL="73152" marR="73152" marT="73152" marB="73152" anchor="ctr">
                    <a:lnL w="9525" cap="flat" cmpd="sng" algn="ctr">
                      <a:solidFill>
                        <a:srgbClr val="D9DCE1"/>
                      </a:solidFill>
                      <a:prstDash val="solid"/>
                      <a:round/>
                      <a:headEnd type="none" w="med" len="med"/>
                      <a:tailEnd type="none" w="med" len="med"/>
                    </a:lnL>
                    <a:lnR w="9525" cap="flat" cmpd="sng" algn="ctr">
                      <a:solidFill>
                        <a:srgbClr val="D9DCE1"/>
                      </a:solidFill>
                      <a:prstDash val="solid"/>
                      <a:round/>
                      <a:headEnd type="none" w="med" len="med"/>
                      <a:tailEnd type="none" w="med" len="med"/>
                    </a:lnR>
                    <a:lnT w="9525" cap="flat" cmpd="sng" algn="ctr">
                      <a:solidFill>
                        <a:srgbClr val="D9DCE1"/>
                      </a:solidFill>
                      <a:prstDash val="solid"/>
                      <a:round/>
                      <a:headEnd type="none" w="med" len="med"/>
                      <a:tailEnd type="none" w="med" len="med"/>
                    </a:lnT>
                    <a:lnB w="9525" cap="flat" cmpd="sng" algn="ctr">
                      <a:solidFill>
                        <a:srgbClr val="D9DCE1"/>
                      </a:solidFill>
                      <a:prstDash val="solid"/>
                      <a:round/>
                      <a:headEnd type="none" w="med" len="med"/>
                      <a:tailEnd type="none" w="med" len="med"/>
                    </a:lnB>
                    <a:solidFill>
                      <a:srgbClr val="FFFFFF"/>
                    </a:solidFill>
                  </a:tcPr>
                </a:tc>
                <a:tc>
                  <a:txBody>
                    <a:bodyPr/>
                    <a:lstStyle/>
                    <a:p>
                      <a:pPr indent="0" marL="0">
                        <a:buNone/>
                      </a:pPr>
                      <a:r>
                        <a:rPr lang="en-US" sz="1300" dirty="0">
                          <a:solidFill>
                            <a:srgbClr val="1F2933"/>
                          </a:solidFill>
                        </a:rPr>
                        <a:t>[what is different]</a:t>
                      </a:r>
                      <a:endParaRPr lang="en-US" sz="1300" dirty="0"/>
                    </a:p>
                  </a:txBody>
                  <a:tcPr marL="73152" marR="73152" marT="73152" marB="73152" anchor="ctr">
                    <a:lnL w="9525" cap="flat" cmpd="sng" algn="ctr">
                      <a:solidFill>
                        <a:srgbClr val="D9DCE1"/>
                      </a:solidFill>
                      <a:prstDash val="solid"/>
                      <a:round/>
                      <a:headEnd type="none" w="med" len="med"/>
                      <a:tailEnd type="none" w="med" len="med"/>
                    </a:lnL>
                    <a:lnR w="9525" cap="flat" cmpd="sng" algn="ctr">
                      <a:solidFill>
                        <a:srgbClr val="D9DCE1"/>
                      </a:solidFill>
                      <a:prstDash val="solid"/>
                      <a:round/>
                      <a:headEnd type="none" w="med" len="med"/>
                      <a:tailEnd type="none" w="med" len="med"/>
                    </a:lnR>
                    <a:lnT w="9525" cap="flat" cmpd="sng" algn="ctr">
                      <a:solidFill>
                        <a:srgbClr val="D9DCE1"/>
                      </a:solidFill>
                      <a:prstDash val="solid"/>
                      <a:round/>
                      <a:headEnd type="none" w="med" len="med"/>
                      <a:tailEnd type="none" w="med" len="med"/>
                    </a:lnT>
                    <a:lnB w="9525" cap="flat" cmpd="sng" algn="ctr">
                      <a:solidFill>
                        <a:srgbClr val="D9DCE1"/>
                      </a:solidFill>
                      <a:prstDash val="solid"/>
                      <a:round/>
                      <a:headEnd type="none" w="med" len="med"/>
                      <a:tailEnd type="none" w="med" len="med"/>
                    </a:lnB>
                    <a:solidFill>
                      <a:srgbClr val="FFFFFF"/>
                    </a:solidFill>
                  </a:tcPr>
                </a:tc>
                <a:tc>
                  <a:txBody>
                    <a:bodyPr/>
                    <a:lstStyle/>
                    <a:p>
                      <a:pPr indent="0" marL="0">
                        <a:buNone/>
                      </a:pPr>
                      <a:r>
                        <a:rPr lang="en-US" sz="1300" dirty="0">
                          <a:solidFill>
                            <a:srgbClr val="1F2933"/>
                          </a:solidFill>
                        </a:rPr>
                        <a:t>[outcome]: measured by [metric]</a:t>
                      </a:r>
                      <a:endParaRPr lang="en-US" sz="1300" dirty="0"/>
                    </a:p>
                  </a:txBody>
                  <a:tcPr marL="73152" marR="73152" marT="73152" marB="73152" anchor="ctr">
                    <a:lnL w="9525" cap="flat" cmpd="sng" algn="ctr">
                      <a:solidFill>
                        <a:srgbClr val="D9DCE1"/>
                      </a:solidFill>
                      <a:prstDash val="solid"/>
                      <a:round/>
                      <a:headEnd type="none" w="med" len="med"/>
                      <a:tailEnd type="none" w="med" len="med"/>
                    </a:lnL>
                    <a:lnR w="9525" cap="flat" cmpd="sng" algn="ctr">
                      <a:solidFill>
                        <a:srgbClr val="D9DCE1"/>
                      </a:solidFill>
                      <a:prstDash val="solid"/>
                      <a:round/>
                      <a:headEnd type="none" w="med" len="med"/>
                      <a:tailEnd type="none" w="med" len="med"/>
                    </a:lnR>
                    <a:lnT w="9525" cap="flat" cmpd="sng" algn="ctr">
                      <a:solidFill>
                        <a:srgbClr val="D9DCE1"/>
                      </a:solidFill>
                      <a:prstDash val="solid"/>
                      <a:round/>
                      <a:headEnd type="none" w="med" len="med"/>
                      <a:tailEnd type="none" w="med" len="med"/>
                    </a:lnT>
                    <a:lnB w="9525" cap="flat" cmpd="sng" algn="ctr">
                      <a:solidFill>
                        <a:srgbClr val="D9DCE1"/>
                      </a:solidFill>
                      <a:prstDash val="solid"/>
                      <a:round/>
                      <a:headEnd type="none" w="med" len="med"/>
                      <a:tailEnd type="none" w="med" len="med"/>
                    </a:lnB>
                    <a:solidFill>
                      <a:srgbClr val="FFFFFF"/>
                    </a:solidFill>
                  </a:tcPr>
                </a:tc>
              </a:tr>
              <a:tr h="640080">
                <a:tc>
                  <a:txBody>
                    <a:bodyPr/>
                    <a:lstStyle/>
                    <a:p>
                      <a:pPr indent="0" marL="0">
                        <a:buNone/>
                      </a:pPr>
                      <a:r>
                        <a:rPr lang="en-US" sz="1300" b="1" dirty="0">
                          <a:solidFill>
                            <a:srgbClr val="1F2933"/>
                          </a:solidFill>
                        </a:rPr>
                        <a:t>Business / analytics</a:t>
                      </a:r>
                      <a:endParaRPr lang="en-US" sz="1300" dirty="0"/>
                    </a:p>
                  </a:txBody>
                  <a:tcPr marL="73152" marR="73152" marT="73152" marB="73152" anchor="ctr">
                    <a:lnL w="9525" cap="flat" cmpd="sng" algn="ctr">
                      <a:solidFill>
                        <a:srgbClr val="D9DCE1"/>
                      </a:solidFill>
                      <a:prstDash val="solid"/>
                      <a:round/>
                      <a:headEnd type="none" w="med" len="med"/>
                      <a:tailEnd type="none" w="med" len="med"/>
                    </a:lnL>
                    <a:lnR w="9525" cap="flat" cmpd="sng" algn="ctr">
                      <a:solidFill>
                        <a:srgbClr val="D9DCE1"/>
                      </a:solidFill>
                      <a:prstDash val="solid"/>
                      <a:round/>
                      <a:headEnd type="none" w="med" len="med"/>
                      <a:tailEnd type="none" w="med" len="med"/>
                    </a:lnR>
                    <a:lnT w="9525" cap="flat" cmpd="sng" algn="ctr">
                      <a:solidFill>
                        <a:srgbClr val="D9DCE1"/>
                      </a:solidFill>
                      <a:prstDash val="solid"/>
                      <a:round/>
                      <a:headEnd type="none" w="med" len="med"/>
                      <a:tailEnd type="none" w="med" len="med"/>
                    </a:lnT>
                    <a:lnB w="9525" cap="flat" cmpd="sng" algn="ctr">
                      <a:solidFill>
                        <a:srgbClr val="D9DCE1"/>
                      </a:solidFill>
                      <a:prstDash val="solid"/>
                      <a:round/>
                      <a:headEnd type="none" w="med" len="med"/>
                      <a:tailEnd type="none" w="med" len="med"/>
                    </a:lnB>
                    <a:solidFill>
                      <a:srgbClr val="FFFFFF"/>
                    </a:solidFill>
                  </a:tcPr>
                </a:tc>
                <a:tc>
                  <a:txBody>
                    <a:bodyPr/>
                    <a:lstStyle/>
                    <a:p>
                      <a:pPr indent="0" marL="0">
                        <a:buNone/>
                      </a:pPr>
                      <a:r>
                        <a:rPr lang="en-US" sz="1300" dirty="0">
                          <a:solidFill>
                            <a:srgbClr val="1F2933"/>
                          </a:solidFill>
                        </a:rPr>
                        <a:t>[decision waits]</a:t>
                      </a:r>
                      <a:endParaRPr lang="en-US" sz="1300" dirty="0"/>
                    </a:p>
                  </a:txBody>
                  <a:tcPr marL="73152" marR="73152" marT="73152" marB="73152" anchor="ctr">
                    <a:lnL w="9525" cap="flat" cmpd="sng" algn="ctr">
                      <a:solidFill>
                        <a:srgbClr val="D9DCE1"/>
                      </a:solidFill>
                      <a:prstDash val="solid"/>
                      <a:round/>
                      <a:headEnd type="none" w="med" len="med"/>
                      <a:tailEnd type="none" w="med" len="med"/>
                    </a:lnL>
                    <a:lnR w="9525" cap="flat" cmpd="sng" algn="ctr">
                      <a:solidFill>
                        <a:srgbClr val="D9DCE1"/>
                      </a:solidFill>
                      <a:prstDash val="solid"/>
                      <a:round/>
                      <a:headEnd type="none" w="med" len="med"/>
                      <a:tailEnd type="none" w="med" len="med"/>
                    </a:lnR>
                    <a:lnT w="9525" cap="flat" cmpd="sng" algn="ctr">
                      <a:solidFill>
                        <a:srgbClr val="D9DCE1"/>
                      </a:solidFill>
                      <a:prstDash val="solid"/>
                      <a:round/>
                      <a:headEnd type="none" w="med" len="med"/>
                      <a:tailEnd type="none" w="med" len="med"/>
                    </a:lnT>
                    <a:lnB w="9525" cap="flat" cmpd="sng" algn="ctr">
                      <a:solidFill>
                        <a:srgbClr val="D9DCE1"/>
                      </a:solidFill>
                      <a:prstDash val="solid"/>
                      <a:round/>
                      <a:headEnd type="none" w="med" len="med"/>
                      <a:tailEnd type="none" w="med" len="med"/>
                    </a:lnB>
                    <a:solidFill>
                      <a:srgbClr val="FFFFFF"/>
                    </a:solidFill>
                  </a:tcPr>
                </a:tc>
                <a:tc>
                  <a:txBody>
                    <a:bodyPr/>
                    <a:lstStyle/>
                    <a:p>
                      <a:pPr indent="0" marL="0">
                        <a:buNone/>
                      </a:pPr>
                      <a:r>
                        <a:rPr lang="en-US" sz="1300" dirty="0">
                          <a:solidFill>
                            <a:srgbClr val="1F2933"/>
                          </a:solidFill>
                        </a:rPr>
                        <a:t>[what is different]</a:t>
                      </a:r>
                      <a:endParaRPr lang="en-US" sz="1300" dirty="0"/>
                    </a:p>
                  </a:txBody>
                  <a:tcPr marL="73152" marR="73152" marT="73152" marB="73152" anchor="ctr">
                    <a:lnL w="9525" cap="flat" cmpd="sng" algn="ctr">
                      <a:solidFill>
                        <a:srgbClr val="D9DCE1"/>
                      </a:solidFill>
                      <a:prstDash val="solid"/>
                      <a:round/>
                      <a:headEnd type="none" w="med" len="med"/>
                      <a:tailEnd type="none" w="med" len="med"/>
                    </a:lnL>
                    <a:lnR w="9525" cap="flat" cmpd="sng" algn="ctr">
                      <a:solidFill>
                        <a:srgbClr val="D9DCE1"/>
                      </a:solidFill>
                      <a:prstDash val="solid"/>
                      <a:round/>
                      <a:headEnd type="none" w="med" len="med"/>
                      <a:tailEnd type="none" w="med" len="med"/>
                    </a:lnR>
                    <a:lnT w="9525" cap="flat" cmpd="sng" algn="ctr">
                      <a:solidFill>
                        <a:srgbClr val="D9DCE1"/>
                      </a:solidFill>
                      <a:prstDash val="solid"/>
                      <a:round/>
                      <a:headEnd type="none" w="med" len="med"/>
                      <a:tailEnd type="none" w="med" len="med"/>
                    </a:lnT>
                    <a:lnB w="9525" cap="flat" cmpd="sng" algn="ctr">
                      <a:solidFill>
                        <a:srgbClr val="D9DCE1"/>
                      </a:solidFill>
                      <a:prstDash val="solid"/>
                      <a:round/>
                      <a:headEnd type="none" w="med" len="med"/>
                      <a:tailEnd type="none" w="med" len="med"/>
                    </a:lnB>
                    <a:solidFill>
                      <a:srgbClr val="FFFFFF"/>
                    </a:solidFill>
                  </a:tcPr>
                </a:tc>
                <a:tc>
                  <a:txBody>
                    <a:bodyPr/>
                    <a:lstStyle/>
                    <a:p>
                      <a:pPr indent="0" marL="0">
                        <a:buNone/>
                      </a:pPr>
                      <a:r>
                        <a:rPr lang="en-US" sz="1300" dirty="0">
                          <a:solidFill>
                            <a:srgbClr val="1F2933"/>
                          </a:solidFill>
                        </a:rPr>
                        <a:t>[outcome]: measured by [metric]</a:t>
                      </a:r>
                      <a:endParaRPr lang="en-US" sz="1300" dirty="0"/>
                    </a:p>
                  </a:txBody>
                  <a:tcPr marL="73152" marR="73152" marT="73152" marB="73152" anchor="ctr">
                    <a:lnL w="9525" cap="flat" cmpd="sng" algn="ctr">
                      <a:solidFill>
                        <a:srgbClr val="D9DCE1"/>
                      </a:solidFill>
                      <a:prstDash val="solid"/>
                      <a:round/>
                      <a:headEnd type="none" w="med" len="med"/>
                      <a:tailEnd type="none" w="med" len="med"/>
                    </a:lnL>
                    <a:lnR w="9525" cap="flat" cmpd="sng" algn="ctr">
                      <a:solidFill>
                        <a:srgbClr val="D9DCE1"/>
                      </a:solidFill>
                      <a:prstDash val="solid"/>
                      <a:round/>
                      <a:headEnd type="none" w="med" len="med"/>
                      <a:tailEnd type="none" w="med" len="med"/>
                    </a:lnR>
                    <a:lnT w="9525" cap="flat" cmpd="sng" algn="ctr">
                      <a:solidFill>
                        <a:srgbClr val="D9DCE1"/>
                      </a:solidFill>
                      <a:prstDash val="solid"/>
                      <a:round/>
                      <a:headEnd type="none" w="med" len="med"/>
                      <a:tailEnd type="none" w="med" len="med"/>
                    </a:lnT>
                    <a:lnB w="9525" cap="flat" cmpd="sng" algn="ctr">
                      <a:solidFill>
                        <a:srgbClr val="D9DCE1"/>
                      </a:solidFill>
                      <a:prstDash val="solid"/>
                      <a:round/>
                      <a:headEnd type="none" w="med" len="med"/>
                      <a:tailEnd type="none" w="med" len="med"/>
                    </a:lnB>
                    <a:solidFill>
                      <a:srgbClr val="FFFFFF"/>
                    </a:solidFill>
                  </a:tcPr>
                </a:tc>
              </a:tr>
            </a:tbl>
          </a:graphicData>
        </a:graphic>
      </p:graphicFrame>
      <p:sp>
        <p:nvSpPr>
          <p:cNvPr id="4" name="Text 1"/>
          <p:cNvSpPr txBox="1"/>
          <p:nvPr/>
        </p:nvSpPr>
        <p:spPr>
          <a:xfrm>
            <a:off x="548640" y="3840480"/>
            <a:ext cx="8046720" cy="457200"/>
          </a:xfrm>
          <a:prstGeom prst="rect">
            <a:avLst/>
          </a:prstGeom>
          <a:noFill/>
          <a:ln/>
        </p:spPr>
        <p:txBody>
          <a:bodyPr wrap="square" lIns="0" tIns="0" rIns="0" bIns="0" rtlCol="0" anchor="ctr"/>
          <a:lstStyle/>
          <a:p>
            <a:pPr indent="0" marL="0">
              <a:buNone/>
            </a:pPr>
            <a:r>
              <a:rPr lang="en-US" sz="1600" b="1" dirty="0">
                <a:solidFill>
                  <a:srgbClr val="1F5FBF"/>
                </a:solidFill>
                <a:latin typeface="Calibri" pitchFamily="34" charset="0"/>
                <a:ea typeface="Calibri" pitchFamily="34" charset="-122"/>
                <a:cs typeface="Calibri" pitchFamily="34" charset="-120"/>
              </a:rPr>
              <a:t>Faster is the means. The value is: [what faster lets the business do].</a:t>
            </a:r>
            <a:endParaRPr lang="en-US" sz="1600" dirty="0"/>
          </a:p>
        </p:txBody>
      </p:sp>
      <p:sp>
        <p:nvSpPr>
          <p:cNvPr id="5" name="Text 2"/>
          <p:cNvSpPr txBox="1"/>
          <p:nvPr/>
        </p:nvSpPr>
        <p:spPr>
          <a:xfrm>
            <a:off x="548640" y="4754880"/>
            <a:ext cx="7315200" cy="228600"/>
          </a:xfrm>
          <a:prstGeom prst="rect">
            <a:avLst/>
          </a:prstGeom>
          <a:noFill/>
          <a:ln/>
        </p:spPr>
        <p:txBody>
          <a:bodyPr wrap="square" lIns="0" tIns="0" rIns="0" bIns="0" rtlCol="0" anchor="ctr"/>
          <a:lstStyle/>
          <a:p>
            <a:pPr indent="0" marL="0">
              <a:buNone/>
            </a:pPr>
            <a:r>
              <a:rPr lang="en-US" sz="1000" dirty="0">
                <a:solidFill>
                  <a:srgbClr val="6B7280"/>
                </a:solidFill>
                <a:latin typeface="Calibri" pitchFamily="34" charset="0"/>
                <a:ea typeface="Calibri" pitchFamily="34" charset="-122"/>
                <a:cs typeface="Calibri" pitchFamily="34" charset="-120"/>
              </a:rPr>
              <a:t>Targets are agreed with you at the start of the pilot. All figures are from a synthetic sample.</a:t>
            </a:r>
            <a:endParaRPr lang="en-US" sz="1000" dirty="0"/>
          </a:p>
        </p:txBody>
      </p:sp>
      <p:sp>
        <p:nvSpPr>
          <p:cNvPr id="25" name="Slide Number Placeholder 0"/>
          <p:cNvSpPr>
            <a:spLocks noGrp="1"/>
          </p:cNvSpPr>
          <p:nvPr>
            <p:ph type="sldNum" sz="quarter" idx="4294967295"/>
          </p:nvPr>
        </p:nvSpPr>
        <p:spPr>
          <a:xfrm>
            <a:off x="8412480" y="4800600"/>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rgbClr val="6B7280"/>
                </a:solidFill>
              </a:defRPr>
            </a:lvl1pPr>
          </a:lstStyle>
          <a:p>
            <a:pPr algn="l"/>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8046720" cy="731520"/>
          </a:xfrm>
          <a:prstGeom prst="rect">
            <a:avLst/>
          </a:prstGeom>
          <a:noFill/>
          <a:ln/>
        </p:spPr>
        <p:txBody>
          <a:bodyPr wrap="square" lIns="0" tIns="0" rIns="0" bIns="0" rtlCol="0" anchor="ctr"/>
          <a:lstStyle/>
          <a:p>
            <a:pPr algn="l" indent="0" marL="0">
              <a:buNone/>
            </a:pPr>
            <a:r>
              <a:rPr lang="en-US" sz="3000" b="1" dirty="0">
                <a:solidFill>
                  <a:srgbClr val="1F2933"/>
                </a:solidFill>
                <a:latin typeface="Calibri" pitchFamily="34" charset="0"/>
                <a:ea typeface="Calibri" pitchFamily="34" charset="-122"/>
                <a:cs typeface="Calibri" pitchFamily="34" charset="-120"/>
              </a:rPr>
              <a:t>How it works, and why each piece matters to you</a:t>
            </a:r>
            <a:endParaRPr lang="en-US" sz="3000" dirty="0"/>
          </a:p>
        </p:txBody>
      </p:sp>
      <p:sp>
        <p:nvSpPr>
          <p:cNvPr id="3" name="flow0"/>
          <p:cNvSpPr/>
          <p:nvPr/>
        </p:nvSpPr>
        <p:spPr>
          <a:xfrm>
            <a:off x="548640" y="1371600"/>
            <a:ext cx="1828800" cy="1188720"/>
          </a:xfrm>
          <a:prstGeom prst="rect">
            <a:avLst/>
          </a:prstGeom>
          <a:solidFill>
            <a:srgbClr val="FFFFFF"/>
          </a:solidFill>
          <a:ln w="19050">
            <a:solidFill>
              <a:srgbClr val="6B7280"/>
            </a:solidFill>
            <a:prstDash val="dash"/>
          </a:ln>
        </p:spPr>
      </p:sp>
      <p:sp>
        <p:nvSpPr>
          <p:cNvPr id="4" name="Text 2"/>
          <p:cNvSpPr txBox="1"/>
          <p:nvPr/>
        </p:nvSpPr>
        <p:spPr>
          <a:xfrm>
            <a:off x="640080" y="1463040"/>
            <a:ext cx="1645920" cy="365760"/>
          </a:xfrm>
          <a:prstGeom prst="rect">
            <a:avLst/>
          </a:prstGeom>
          <a:noFill/>
          <a:ln/>
        </p:spPr>
        <p:txBody>
          <a:bodyPr wrap="square" lIns="0" tIns="0" rIns="0" bIns="0" rtlCol="0" anchor="ctr"/>
          <a:lstStyle/>
          <a:p>
            <a:pPr algn="ctr" indent="0" marL="0">
              <a:buNone/>
            </a:pPr>
            <a:r>
              <a:rPr lang="en-US" sz="1500" b="1" dirty="0">
                <a:solidFill>
                  <a:srgbClr val="1F2933"/>
                </a:solidFill>
                <a:latin typeface="Calibri" pitchFamily="34" charset="0"/>
                <a:ea typeface="Calibri" pitchFamily="34" charset="-122"/>
                <a:cs typeface="Calibri" pitchFamily="34" charset="-120"/>
              </a:rPr>
              <a:t>Sources</a:t>
            </a:r>
            <a:endParaRPr lang="en-US" sz="1500" dirty="0"/>
          </a:p>
        </p:txBody>
      </p:sp>
      <p:sp>
        <p:nvSpPr>
          <p:cNvPr id="5" name="Text 3"/>
          <p:cNvSpPr txBox="1"/>
          <p:nvPr/>
        </p:nvSpPr>
        <p:spPr>
          <a:xfrm>
            <a:off x="640080" y="1874520"/>
            <a:ext cx="1645920" cy="594360"/>
          </a:xfrm>
          <a:prstGeom prst="rect">
            <a:avLst/>
          </a:prstGeom>
          <a:noFill/>
          <a:ln/>
        </p:spPr>
        <p:txBody>
          <a:bodyPr wrap="square" lIns="0" tIns="0" rIns="0" bIns="0" rtlCol="0" anchor="ctr"/>
          <a:lstStyle/>
          <a:p>
            <a:pPr algn="ctr" indent="0" marL="0">
              <a:buNone/>
            </a:pPr>
            <a:r>
              <a:rPr lang="en-US" sz="1200" dirty="0">
                <a:solidFill>
                  <a:srgbClr val="6B7280"/>
                </a:solidFill>
                <a:latin typeface="Calibri" pitchFamily="34" charset="0"/>
                <a:ea typeface="Calibri" pitchFamily="34" charset="-122"/>
                <a:cs typeface="Calibri" pitchFamily="34" charset="-120"/>
              </a:rPr>
              <a:t>[assumed: e.g. POS, e-commerce, loyalty]</a:t>
            </a:r>
            <a:endParaRPr lang="en-US" sz="1200" dirty="0"/>
          </a:p>
        </p:txBody>
      </p:sp>
      <p:sp>
        <p:nvSpPr>
          <p:cNvPr id="6" name="Text 4"/>
          <p:cNvSpPr txBox="1"/>
          <p:nvPr/>
        </p:nvSpPr>
        <p:spPr>
          <a:xfrm>
            <a:off x="548640" y="2697480"/>
            <a:ext cx="1828800" cy="228600"/>
          </a:xfrm>
          <a:prstGeom prst="rect">
            <a:avLst/>
          </a:prstGeom>
          <a:noFill/>
          <a:ln/>
        </p:spPr>
        <p:txBody>
          <a:bodyPr wrap="square" lIns="0" tIns="0" rIns="0" bIns="0" rtlCol="0" anchor="ctr"/>
          <a:lstStyle/>
          <a:p>
            <a:pPr indent="0" marL="0">
              <a:buNone/>
            </a:pPr>
            <a:r>
              <a:rPr lang="en-US" sz="1100" b="1" dirty="0">
                <a:solidFill>
                  <a:srgbClr val="1F5FBF"/>
                </a:solidFill>
                <a:latin typeface="Calibri" pitchFamily="34" charset="0"/>
                <a:ea typeface="Calibri" pitchFamily="34" charset="-122"/>
                <a:cs typeface="Calibri" pitchFamily="34" charset="-120"/>
              </a:rPr>
              <a:t>Why it matters</a:t>
            </a:r>
            <a:endParaRPr lang="en-US" sz="1100" dirty="0"/>
          </a:p>
        </p:txBody>
      </p:sp>
      <p:sp>
        <p:nvSpPr>
          <p:cNvPr id="7" name="Text 5"/>
          <p:cNvSpPr txBox="1"/>
          <p:nvPr/>
        </p:nvSpPr>
        <p:spPr>
          <a:xfrm>
            <a:off x="548640" y="2926080"/>
            <a:ext cx="1828800" cy="640080"/>
          </a:xfrm>
          <a:prstGeom prst="rect">
            <a:avLst/>
          </a:prstGeom>
          <a:noFill/>
          <a:ln/>
        </p:spPr>
        <p:txBody>
          <a:bodyPr wrap="square" lIns="0" tIns="0" rIns="0" bIns="0" rtlCol="0" anchor="t"/>
          <a:lstStyle/>
          <a:p>
            <a:pPr indent="0" marL="0">
              <a:buNone/>
            </a:pPr>
            <a:r>
              <a:rPr lang="en-US" sz="1300" dirty="0">
                <a:solidFill>
                  <a:srgbClr val="1F2933"/>
                </a:solidFill>
                <a:latin typeface="Calibri" pitchFamily="34" charset="0"/>
                <a:ea typeface="Calibri" pitchFamily="34" charset="-122"/>
                <a:cs typeface="Calibri" pitchFamily="34" charset="-120"/>
              </a:rPr>
              <a:t>[problem it solves]</a:t>
            </a:r>
            <a:endParaRPr lang="en-US" sz="1300" dirty="0"/>
          </a:p>
        </p:txBody>
      </p:sp>
      <p:sp>
        <p:nvSpPr>
          <p:cNvPr id="8" name="Text 6"/>
          <p:cNvSpPr txBox="1"/>
          <p:nvPr/>
        </p:nvSpPr>
        <p:spPr>
          <a:xfrm>
            <a:off x="2377440" y="1645920"/>
            <a:ext cx="228600" cy="548640"/>
          </a:xfrm>
          <a:prstGeom prst="rect">
            <a:avLst/>
          </a:prstGeom>
          <a:noFill/>
          <a:ln/>
        </p:spPr>
        <p:txBody>
          <a:bodyPr wrap="square" lIns="0" tIns="0" rIns="0" bIns="0" rtlCol="0" anchor="ctr"/>
          <a:lstStyle/>
          <a:p>
            <a:pPr algn="ctr" indent="0" marL="0">
              <a:buNone/>
            </a:pPr>
            <a:r>
              <a:rPr lang="en-US" sz="2000" dirty="0">
                <a:solidFill>
                  <a:srgbClr val="6B7280"/>
                </a:solidFill>
                <a:latin typeface="Calibri" pitchFamily="34" charset="0"/>
                <a:ea typeface="Calibri" pitchFamily="34" charset="-122"/>
                <a:cs typeface="Calibri" pitchFamily="34" charset="-120"/>
              </a:rPr>
              <a:t>→</a:t>
            </a:r>
            <a:endParaRPr lang="en-US" sz="2000" dirty="0"/>
          </a:p>
        </p:txBody>
      </p:sp>
      <p:sp>
        <p:nvSpPr>
          <p:cNvPr id="9" name="flow1"/>
          <p:cNvSpPr/>
          <p:nvPr/>
        </p:nvSpPr>
        <p:spPr>
          <a:xfrm>
            <a:off x="2606040" y="1371600"/>
            <a:ext cx="1828800" cy="1188720"/>
          </a:xfrm>
          <a:prstGeom prst="rect">
            <a:avLst/>
          </a:prstGeom>
          <a:solidFill>
            <a:srgbClr val="F5F6F8"/>
          </a:solidFill>
          <a:ln w="19050">
            <a:solidFill>
              <a:srgbClr val="1F5FBF"/>
            </a:solidFill>
            <a:prstDash val="solid"/>
          </a:ln>
        </p:spPr>
      </p:sp>
      <p:sp>
        <p:nvSpPr>
          <p:cNvPr id="10" name="Text 8"/>
          <p:cNvSpPr txBox="1"/>
          <p:nvPr/>
        </p:nvSpPr>
        <p:spPr>
          <a:xfrm>
            <a:off x="2697480" y="1463040"/>
            <a:ext cx="1645920" cy="365760"/>
          </a:xfrm>
          <a:prstGeom prst="rect">
            <a:avLst/>
          </a:prstGeom>
          <a:noFill/>
          <a:ln/>
        </p:spPr>
        <p:txBody>
          <a:bodyPr wrap="square" lIns="0" tIns="0" rIns="0" bIns="0" rtlCol="0" anchor="ctr"/>
          <a:lstStyle/>
          <a:p>
            <a:pPr algn="ctr" indent="0" marL="0">
              <a:buNone/>
            </a:pPr>
            <a:r>
              <a:rPr lang="en-US" sz="1500" b="1" dirty="0">
                <a:solidFill>
                  <a:srgbClr val="1F2933"/>
                </a:solidFill>
                <a:latin typeface="Calibri" pitchFamily="34" charset="0"/>
                <a:ea typeface="Calibri" pitchFamily="34" charset="-122"/>
                <a:cs typeface="Calibri" pitchFamily="34" charset="-120"/>
              </a:rPr>
              <a:t>Land and clean</a:t>
            </a:r>
            <a:endParaRPr lang="en-US" sz="1500" dirty="0"/>
          </a:p>
        </p:txBody>
      </p:sp>
      <p:sp>
        <p:nvSpPr>
          <p:cNvPr id="11" name="Text 9"/>
          <p:cNvSpPr txBox="1"/>
          <p:nvPr/>
        </p:nvSpPr>
        <p:spPr>
          <a:xfrm>
            <a:off x="2697480" y="1874520"/>
            <a:ext cx="1645920" cy="594360"/>
          </a:xfrm>
          <a:prstGeom prst="rect">
            <a:avLst/>
          </a:prstGeom>
          <a:noFill/>
          <a:ln/>
        </p:spPr>
        <p:txBody>
          <a:bodyPr wrap="square" lIns="0" tIns="0" rIns="0" bIns="0" rtlCol="0" anchor="ctr"/>
          <a:lstStyle/>
          <a:p>
            <a:pPr algn="ctr" indent="0" marL="0">
              <a:buNone/>
            </a:pPr>
            <a:r>
              <a:rPr lang="en-US" sz="1200" dirty="0">
                <a:solidFill>
                  <a:srgbClr val="6B7280"/>
                </a:solidFill>
                <a:latin typeface="Calibri" pitchFamily="34" charset="0"/>
                <a:ea typeface="Calibri" pitchFamily="34" charset="-122"/>
                <a:cs typeface="Calibri" pitchFamily="34" charset="-120"/>
              </a:rPr>
              <a:t>[Delta tables, quality checks]</a:t>
            </a:r>
            <a:endParaRPr lang="en-US" sz="1200" dirty="0"/>
          </a:p>
        </p:txBody>
      </p:sp>
      <p:sp>
        <p:nvSpPr>
          <p:cNvPr id="12" name="Text 10"/>
          <p:cNvSpPr txBox="1"/>
          <p:nvPr/>
        </p:nvSpPr>
        <p:spPr>
          <a:xfrm>
            <a:off x="2606040" y="2697480"/>
            <a:ext cx="1828800" cy="228600"/>
          </a:xfrm>
          <a:prstGeom prst="rect">
            <a:avLst/>
          </a:prstGeom>
          <a:noFill/>
          <a:ln/>
        </p:spPr>
        <p:txBody>
          <a:bodyPr wrap="square" lIns="0" tIns="0" rIns="0" bIns="0" rtlCol="0" anchor="ctr"/>
          <a:lstStyle/>
          <a:p>
            <a:pPr indent="0" marL="0">
              <a:buNone/>
            </a:pPr>
            <a:r>
              <a:rPr lang="en-US" sz="1100" b="1" dirty="0">
                <a:solidFill>
                  <a:srgbClr val="1F5FBF"/>
                </a:solidFill>
                <a:latin typeface="Calibri" pitchFamily="34" charset="0"/>
                <a:ea typeface="Calibri" pitchFamily="34" charset="-122"/>
                <a:cs typeface="Calibri" pitchFamily="34" charset="-120"/>
              </a:rPr>
              <a:t>Why it matters</a:t>
            </a:r>
            <a:endParaRPr lang="en-US" sz="1100" dirty="0"/>
          </a:p>
        </p:txBody>
      </p:sp>
      <p:sp>
        <p:nvSpPr>
          <p:cNvPr id="13" name="Text 11"/>
          <p:cNvSpPr txBox="1"/>
          <p:nvPr/>
        </p:nvSpPr>
        <p:spPr>
          <a:xfrm>
            <a:off x="2606040" y="2926080"/>
            <a:ext cx="1828800" cy="640080"/>
          </a:xfrm>
          <a:prstGeom prst="rect">
            <a:avLst/>
          </a:prstGeom>
          <a:noFill/>
          <a:ln/>
        </p:spPr>
        <p:txBody>
          <a:bodyPr wrap="square" lIns="0" tIns="0" rIns="0" bIns="0" rtlCol="0" anchor="t"/>
          <a:lstStyle/>
          <a:p>
            <a:pPr indent="0" marL="0">
              <a:buNone/>
            </a:pPr>
            <a:r>
              <a:rPr lang="en-US" sz="1300" dirty="0">
                <a:solidFill>
                  <a:srgbClr val="1F2933"/>
                </a:solidFill>
                <a:latin typeface="Calibri" pitchFamily="34" charset="0"/>
                <a:ea typeface="Calibri" pitchFamily="34" charset="-122"/>
                <a:cs typeface="Calibri" pitchFamily="34" charset="-120"/>
              </a:rPr>
              <a:t>[problem it solves]</a:t>
            </a:r>
            <a:endParaRPr lang="en-US" sz="1300" dirty="0"/>
          </a:p>
        </p:txBody>
      </p:sp>
      <p:sp>
        <p:nvSpPr>
          <p:cNvPr id="14" name="Text 12"/>
          <p:cNvSpPr txBox="1"/>
          <p:nvPr/>
        </p:nvSpPr>
        <p:spPr>
          <a:xfrm>
            <a:off x="4434840" y="1645920"/>
            <a:ext cx="228600" cy="548640"/>
          </a:xfrm>
          <a:prstGeom prst="rect">
            <a:avLst/>
          </a:prstGeom>
          <a:noFill/>
          <a:ln/>
        </p:spPr>
        <p:txBody>
          <a:bodyPr wrap="square" lIns="0" tIns="0" rIns="0" bIns="0" rtlCol="0" anchor="ctr"/>
          <a:lstStyle/>
          <a:p>
            <a:pPr algn="ctr" indent="0" marL="0">
              <a:buNone/>
            </a:pPr>
            <a:r>
              <a:rPr lang="en-US" sz="2000" dirty="0">
                <a:solidFill>
                  <a:srgbClr val="6B7280"/>
                </a:solidFill>
                <a:latin typeface="Calibri" pitchFamily="34" charset="0"/>
                <a:ea typeface="Calibri" pitchFamily="34" charset="-122"/>
                <a:cs typeface="Calibri" pitchFamily="34" charset="-120"/>
              </a:rPr>
              <a:t>→</a:t>
            </a:r>
            <a:endParaRPr lang="en-US" sz="2000" dirty="0"/>
          </a:p>
        </p:txBody>
      </p:sp>
      <p:sp>
        <p:nvSpPr>
          <p:cNvPr id="15" name="flow2"/>
          <p:cNvSpPr/>
          <p:nvPr/>
        </p:nvSpPr>
        <p:spPr>
          <a:xfrm>
            <a:off x="4663440" y="1371600"/>
            <a:ext cx="1828800" cy="1188720"/>
          </a:xfrm>
          <a:prstGeom prst="rect">
            <a:avLst/>
          </a:prstGeom>
          <a:solidFill>
            <a:srgbClr val="F5F6F8"/>
          </a:solidFill>
          <a:ln w="19050">
            <a:solidFill>
              <a:srgbClr val="1F5FBF"/>
            </a:solidFill>
            <a:prstDash val="solid"/>
          </a:ln>
        </p:spPr>
      </p:sp>
      <p:sp>
        <p:nvSpPr>
          <p:cNvPr id="16" name="Text 14"/>
          <p:cNvSpPr txBox="1"/>
          <p:nvPr/>
        </p:nvSpPr>
        <p:spPr>
          <a:xfrm>
            <a:off x="4754880" y="1463040"/>
            <a:ext cx="1645920" cy="365760"/>
          </a:xfrm>
          <a:prstGeom prst="rect">
            <a:avLst/>
          </a:prstGeom>
          <a:noFill/>
          <a:ln/>
        </p:spPr>
        <p:txBody>
          <a:bodyPr wrap="square" lIns="0" tIns="0" rIns="0" bIns="0" rtlCol="0" anchor="ctr"/>
          <a:lstStyle/>
          <a:p>
            <a:pPr algn="ctr" indent="0" marL="0">
              <a:buNone/>
            </a:pPr>
            <a:r>
              <a:rPr lang="en-US" sz="1500" b="1" dirty="0">
                <a:solidFill>
                  <a:srgbClr val="1F2933"/>
                </a:solidFill>
                <a:latin typeface="Calibri" pitchFamily="34" charset="0"/>
                <a:ea typeface="Calibri" pitchFamily="34" charset="-122"/>
                <a:cs typeface="Calibri" pitchFamily="34" charset="-120"/>
              </a:rPr>
              <a:t>Business-ready data</a:t>
            </a:r>
            <a:endParaRPr lang="en-US" sz="1500" dirty="0"/>
          </a:p>
        </p:txBody>
      </p:sp>
      <p:sp>
        <p:nvSpPr>
          <p:cNvPr id="17" name="Text 15"/>
          <p:cNvSpPr txBox="1"/>
          <p:nvPr/>
        </p:nvSpPr>
        <p:spPr>
          <a:xfrm>
            <a:off x="4754880" y="1874520"/>
            <a:ext cx="1645920" cy="594360"/>
          </a:xfrm>
          <a:prstGeom prst="rect">
            <a:avLst/>
          </a:prstGeom>
          <a:noFill/>
          <a:ln/>
        </p:spPr>
        <p:txBody>
          <a:bodyPr wrap="square" lIns="0" tIns="0" rIns="0" bIns="0" rtlCol="0" anchor="ctr"/>
          <a:lstStyle/>
          <a:p>
            <a:pPr algn="ctr" indent="0" marL="0">
              <a:buNone/>
            </a:pPr>
            <a:r>
              <a:rPr lang="en-US" sz="1200" dirty="0">
                <a:solidFill>
                  <a:srgbClr val="6B7280"/>
                </a:solidFill>
                <a:latin typeface="Calibri" pitchFamily="34" charset="0"/>
                <a:ea typeface="Calibri" pitchFamily="34" charset="-122"/>
                <a:cs typeface="Calibri" pitchFamily="34" charset="-120"/>
              </a:rPr>
              <a:t>[curated, governed]</a:t>
            </a:r>
            <a:endParaRPr lang="en-US" sz="1200" dirty="0"/>
          </a:p>
        </p:txBody>
      </p:sp>
      <p:sp>
        <p:nvSpPr>
          <p:cNvPr id="18" name="Text 16"/>
          <p:cNvSpPr txBox="1"/>
          <p:nvPr/>
        </p:nvSpPr>
        <p:spPr>
          <a:xfrm>
            <a:off x="4663440" y="2697480"/>
            <a:ext cx="1828800" cy="228600"/>
          </a:xfrm>
          <a:prstGeom prst="rect">
            <a:avLst/>
          </a:prstGeom>
          <a:noFill/>
          <a:ln/>
        </p:spPr>
        <p:txBody>
          <a:bodyPr wrap="square" lIns="0" tIns="0" rIns="0" bIns="0" rtlCol="0" anchor="ctr"/>
          <a:lstStyle/>
          <a:p>
            <a:pPr indent="0" marL="0">
              <a:buNone/>
            </a:pPr>
            <a:r>
              <a:rPr lang="en-US" sz="1100" b="1" dirty="0">
                <a:solidFill>
                  <a:srgbClr val="1F5FBF"/>
                </a:solidFill>
                <a:latin typeface="Calibri" pitchFamily="34" charset="0"/>
                <a:ea typeface="Calibri" pitchFamily="34" charset="-122"/>
                <a:cs typeface="Calibri" pitchFamily="34" charset="-120"/>
              </a:rPr>
              <a:t>Why it matters</a:t>
            </a:r>
            <a:endParaRPr lang="en-US" sz="1100" dirty="0"/>
          </a:p>
        </p:txBody>
      </p:sp>
      <p:sp>
        <p:nvSpPr>
          <p:cNvPr id="19" name="Text 17"/>
          <p:cNvSpPr txBox="1"/>
          <p:nvPr/>
        </p:nvSpPr>
        <p:spPr>
          <a:xfrm>
            <a:off x="4663440" y="2926080"/>
            <a:ext cx="1828800" cy="640080"/>
          </a:xfrm>
          <a:prstGeom prst="rect">
            <a:avLst/>
          </a:prstGeom>
          <a:noFill/>
          <a:ln/>
        </p:spPr>
        <p:txBody>
          <a:bodyPr wrap="square" lIns="0" tIns="0" rIns="0" bIns="0" rtlCol="0" anchor="t"/>
          <a:lstStyle/>
          <a:p>
            <a:pPr indent="0" marL="0">
              <a:buNone/>
            </a:pPr>
            <a:r>
              <a:rPr lang="en-US" sz="1300" dirty="0">
                <a:solidFill>
                  <a:srgbClr val="1F2933"/>
                </a:solidFill>
                <a:latin typeface="Calibri" pitchFamily="34" charset="0"/>
                <a:ea typeface="Calibri" pitchFamily="34" charset="-122"/>
                <a:cs typeface="Calibri" pitchFamily="34" charset="-120"/>
              </a:rPr>
              <a:t>[problem it solves]</a:t>
            </a:r>
            <a:endParaRPr lang="en-US" sz="1300" dirty="0"/>
          </a:p>
        </p:txBody>
      </p:sp>
      <p:sp>
        <p:nvSpPr>
          <p:cNvPr id="20" name="Text 18"/>
          <p:cNvSpPr txBox="1"/>
          <p:nvPr/>
        </p:nvSpPr>
        <p:spPr>
          <a:xfrm>
            <a:off x="6492240" y="1645920"/>
            <a:ext cx="228600" cy="548640"/>
          </a:xfrm>
          <a:prstGeom prst="rect">
            <a:avLst/>
          </a:prstGeom>
          <a:noFill/>
          <a:ln/>
        </p:spPr>
        <p:txBody>
          <a:bodyPr wrap="square" lIns="0" tIns="0" rIns="0" bIns="0" rtlCol="0" anchor="ctr"/>
          <a:lstStyle/>
          <a:p>
            <a:pPr algn="ctr" indent="0" marL="0">
              <a:buNone/>
            </a:pPr>
            <a:r>
              <a:rPr lang="en-US" sz="2000" dirty="0">
                <a:solidFill>
                  <a:srgbClr val="6B7280"/>
                </a:solidFill>
                <a:latin typeface="Calibri" pitchFamily="34" charset="0"/>
                <a:ea typeface="Calibri" pitchFamily="34" charset="-122"/>
                <a:cs typeface="Calibri" pitchFamily="34" charset="-120"/>
              </a:rPr>
              <a:t>→</a:t>
            </a:r>
            <a:endParaRPr lang="en-US" sz="2000" dirty="0"/>
          </a:p>
        </p:txBody>
      </p:sp>
      <p:sp>
        <p:nvSpPr>
          <p:cNvPr id="21" name="flow3"/>
          <p:cNvSpPr/>
          <p:nvPr/>
        </p:nvSpPr>
        <p:spPr>
          <a:xfrm>
            <a:off x="6720840" y="1371600"/>
            <a:ext cx="1828800" cy="1188720"/>
          </a:xfrm>
          <a:prstGeom prst="rect">
            <a:avLst/>
          </a:prstGeom>
          <a:solidFill>
            <a:srgbClr val="F5F6F8"/>
          </a:solidFill>
          <a:ln w="19050">
            <a:solidFill>
              <a:srgbClr val="1F5FBF"/>
            </a:solidFill>
            <a:prstDash val="solid"/>
          </a:ln>
        </p:spPr>
      </p:sp>
      <p:sp>
        <p:nvSpPr>
          <p:cNvPr id="22" name="Text 20"/>
          <p:cNvSpPr txBox="1"/>
          <p:nvPr/>
        </p:nvSpPr>
        <p:spPr>
          <a:xfrm>
            <a:off x="6812280" y="1463040"/>
            <a:ext cx="1645920" cy="365760"/>
          </a:xfrm>
          <a:prstGeom prst="rect">
            <a:avLst/>
          </a:prstGeom>
          <a:noFill/>
          <a:ln/>
        </p:spPr>
        <p:txBody>
          <a:bodyPr wrap="square" lIns="0" tIns="0" rIns="0" bIns="0" rtlCol="0" anchor="ctr"/>
          <a:lstStyle/>
          <a:p>
            <a:pPr algn="ctr" indent="0" marL="0">
              <a:buNone/>
            </a:pPr>
            <a:r>
              <a:rPr lang="en-US" sz="1500" b="1" dirty="0">
                <a:solidFill>
                  <a:srgbClr val="1F2933"/>
                </a:solidFill>
                <a:latin typeface="Calibri" pitchFamily="34" charset="0"/>
                <a:ea typeface="Calibri" pitchFamily="34" charset="-122"/>
                <a:cs typeface="Calibri" pitchFamily="34" charset="-120"/>
              </a:rPr>
              <a:t>What you use</a:t>
            </a:r>
            <a:endParaRPr lang="en-US" sz="1500" dirty="0"/>
          </a:p>
        </p:txBody>
      </p:sp>
      <p:sp>
        <p:nvSpPr>
          <p:cNvPr id="23" name="Text 21"/>
          <p:cNvSpPr txBox="1"/>
          <p:nvPr/>
        </p:nvSpPr>
        <p:spPr>
          <a:xfrm>
            <a:off x="6812280" y="1874520"/>
            <a:ext cx="1645920" cy="594360"/>
          </a:xfrm>
          <a:prstGeom prst="rect">
            <a:avLst/>
          </a:prstGeom>
          <a:noFill/>
          <a:ln/>
        </p:spPr>
        <p:txBody>
          <a:bodyPr wrap="square" lIns="0" tIns="0" rIns="0" bIns="0" rtlCol="0" anchor="ctr"/>
          <a:lstStyle/>
          <a:p>
            <a:pPr algn="ctr" indent="0" marL="0">
              <a:buNone/>
            </a:pPr>
            <a:r>
              <a:rPr lang="en-US" sz="1200" dirty="0">
                <a:solidFill>
                  <a:srgbClr val="6B7280"/>
                </a:solidFill>
                <a:latin typeface="Calibri" pitchFamily="34" charset="0"/>
                <a:ea typeface="Calibri" pitchFamily="34" charset="-122"/>
                <a:cs typeface="Calibri" pitchFamily="34" charset="-120"/>
              </a:rPr>
              <a:t>[Dashboard / Genie / App]</a:t>
            </a:r>
            <a:endParaRPr lang="en-US" sz="1200" dirty="0"/>
          </a:p>
        </p:txBody>
      </p:sp>
      <p:sp>
        <p:nvSpPr>
          <p:cNvPr id="24" name="Text 22"/>
          <p:cNvSpPr txBox="1"/>
          <p:nvPr/>
        </p:nvSpPr>
        <p:spPr>
          <a:xfrm>
            <a:off x="6720840" y="2697480"/>
            <a:ext cx="1828800" cy="228600"/>
          </a:xfrm>
          <a:prstGeom prst="rect">
            <a:avLst/>
          </a:prstGeom>
          <a:noFill/>
          <a:ln/>
        </p:spPr>
        <p:txBody>
          <a:bodyPr wrap="square" lIns="0" tIns="0" rIns="0" bIns="0" rtlCol="0" anchor="ctr"/>
          <a:lstStyle/>
          <a:p>
            <a:pPr indent="0" marL="0">
              <a:buNone/>
            </a:pPr>
            <a:r>
              <a:rPr lang="en-US" sz="1100" b="1" dirty="0">
                <a:solidFill>
                  <a:srgbClr val="1F5FBF"/>
                </a:solidFill>
                <a:latin typeface="Calibri" pitchFamily="34" charset="0"/>
                <a:ea typeface="Calibri" pitchFamily="34" charset="-122"/>
                <a:cs typeface="Calibri" pitchFamily="34" charset="-120"/>
              </a:rPr>
              <a:t>Why it matters</a:t>
            </a:r>
            <a:endParaRPr lang="en-US" sz="1100" dirty="0"/>
          </a:p>
        </p:txBody>
      </p:sp>
      <p:sp>
        <p:nvSpPr>
          <p:cNvPr id="25" name="Text 23"/>
          <p:cNvSpPr txBox="1"/>
          <p:nvPr/>
        </p:nvSpPr>
        <p:spPr>
          <a:xfrm>
            <a:off x="6720840" y="2926080"/>
            <a:ext cx="1828800" cy="640080"/>
          </a:xfrm>
          <a:prstGeom prst="rect">
            <a:avLst/>
          </a:prstGeom>
          <a:noFill/>
          <a:ln/>
        </p:spPr>
        <p:txBody>
          <a:bodyPr wrap="square" lIns="0" tIns="0" rIns="0" bIns="0" rtlCol="0" anchor="t"/>
          <a:lstStyle/>
          <a:p>
            <a:pPr indent="0" marL="0">
              <a:buNone/>
            </a:pPr>
            <a:r>
              <a:rPr lang="en-US" sz="1300" dirty="0">
                <a:solidFill>
                  <a:srgbClr val="1F2933"/>
                </a:solidFill>
                <a:latin typeface="Calibri" pitchFamily="34" charset="0"/>
                <a:ea typeface="Calibri" pitchFamily="34" charset="-122"/>
                <a:cs typeface="Calibri" pitchFamily="34" charset="-120"/>
              </a:rPr>
              <a:t>[problem it solves]</a:t>
            </a:r>
            <a:endParaRPr lang="en-US" sz="1300" dirty="0"/>
          </a:p>
        </p:txBody>
      </p:sp>
      <p:sp>
        <p:nvSpPr>
          <p:cNvPr id="26" name="leg1"/>
          <p:cNvSpPr/>
          <p:nvPr/>
        </p:nvSpPr>
        <p:spPr>
          <a:xfrm>
            <a:off x="548640" y="4023360"/>
            <a:ext cx="228600" cy="228600"/>
          </a:xfrm>
          <a:prstGeom prst="rect">
            <a:avLst/>
          </a:prstGeom>
          <a:solidFill>
            <a:srgbClr val="F5F6F8"/>
          </a:solidFill>
          <a:ln w="19050">
            <a:solidFill>
              <a:srgbClr val="1F5FBF"/>
            </a:solidFill>
            <a:prstDash val="solid"/>
          </a:ln>
        </p:spPr>
      </p:sp>
      <p:sp>
        <p:nvSpPr>
          <p:cNvPr id="27" name="Text 25"/>
          <p:cNvSpPr txBox="1"/>
          <p:nvPr/>
        </p:nvSpPr>
        <p:spPr>
          <a:xfrm>
            <a:off x="914400" y="4005072"/>
            <a:ext cx="2286000" cy="274320"/>
          </a:xfrm>
          <a:prstGeom prst="rect">
            <a:avLst/>
          </a:prstGeom>
          <a:noFill/>
          <a:ln/>
        </p:spPr>
        <p:txBody>
          <a:bodyPr wrap="square" lIns="0" tIns="0" rIns="0" bIns="0" rtlCol="0" anchor="ctr"/>
          <a:lstStyle/>
          <a:p>
            <a:pPr indent="0" marL="0">
              <a:buNone/>
            </a:pPr>
            <a:r>
              <a:rPr lang="en-US" sz="1200" dirty="0">
                <a:solidFill>
                  <a:srgbClr val="1F2933"/>
                </a:solidFill>
                <a:latin typeface="Calibri" pitchFamily="34" charset="0"/>
                <a:ea typeface="Calibri" pitchFamily="34" charset="-122"/>
                <a:cs typeface="Calibri" pitchFamily="34" charset="-120"/>
              </a:rPr>
              <a:t>Built and shown today</a:t>
            </a:r>
            <a:endParaRPr lang="en-US" sz="1200" dirty="0"/>
          </a:p>
        </p:txBody>
      </p:sp>
      <p:sp>
        <p:nvSpPr>
          <p:cNvPr id="28" name="leg2"/>
          <p:cNvSpPr/>
          <p:nvPr/>
        </p:nvSpPr>
        <p:spPr>
          <a:xfrm>
            <a:off x="3383280" y="4023360"/>
            <a:ext cx="228600" cy="228600"/>
          </a:xfrm>
          <a:prstGeom prst="rect">
            <a:avLst/>
          </a:prstGeom>
          <a:solidFill>
            <a:srgbClr val="FFFFFF"/>
          </a:solidFill>
          <a:ln w="19050">
            <a:solidFill>
              <a:srgbClr val="6B7280"/>
            </a:solidFill>
            <a:prstDash val="dash"/>
          </a:ln>
        </p:spPr>
      </p:sp>
      <p:sp>
        <p:nvSpPr>
          <p:cNvPr id="29" name="Text 27"/>
          <p:cNvSpPr txBox="1"/>
          <p:nvPr/>
        </p:nvSpPr>
        <p:spPr>
          <a:xfrm>
            <a:off x="3749040" y="4005072"/>
            <a:ext cx="2743200" cy="274320"/>
          </a:xfrm>
          <a:prstGeom prst="rect">
            <a:avLst/>
          </a:prstGeom>
          <a:noFill/>
          <a:ln/>
        </p:spPr>
        <p:txBody>
          <a:bodyPr wrap="square" lIns="0" tIns="0" rIns="0" bIns="0" rtlCol="0" anchor="ctr"/>
          <a:lstStyle/>
          <a:p>
            <a:pPr indent="0" marL="0">
              <a:buNone/>
            </a:pPr>
            <a:r>
              <a:rPr lang="en-US" sz="1200" dirty="0">
                <a:solidFill>
                  <a:srgbClr val="1F2933"/>
                </a:solidFill>
                <a:latin typeface="Calibri" pitchFamily="34" charset="0"/>
                <a:ea typeface="Calibri" pitchFamily="34" charset="-122"/>
                <a:cs typeface="Calibri" pitchFamily="34" charset="-120"/>
              </a:rPr>
              <a:t>Assumed or on the roadmap</a:t>
            </a:r>
            <a:endParaRPr lang="en-US" sz="1200" dirty="0"/>
          </a:p>
        </p:txBody>
      </p:sp>
      <p:sp>
        <p:nvSpPr>
          <p:cNvPr id="25" name="Slide Number Placeholder 0"/>
          <p:cNvSpPr>
            <a:spLocks noGrp="1"/>
          </p:cNvSpPr>
          <p:nvPr>
            <p:ph type="sldNum" sz="quarter" idx="4294967295"/>
          </p:nvPr>
        </p:nvSpPr>
        <p:spPr>
          <a:xfrm>
            <a:off x="8412480" y="4800600"/>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rgbClr val="6B7280"/>
                </a:solidFill>
              </a:defRPr>
            </a:lvl1pPr>
          </a:lstStyle>
          <a:p>
            <a:pPr algn="l"/>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8046720" cy="731520"/>
          </a:xfrm>
          <a:prstGeom prst="rect">
            <a:avLst/>
          </a:prstGeom>
          <a:noFill/>
          <a:ln/>
        </p:spPr>
        <p:txBody>
          <a:bodyPr wrap="square" lIns="0" tIns="0" rIns="0" bIns="0" rtlCol="0" anchor="ctr"/>
          <a:lstStyle/>
          <a:p>
            <a:pPr algn="l" indent="0" marL="0">
              <a:buNone/>
            </a:pPr>
            <a:r>
              <a:rPr lang="en-US" sz="3000" b="1" dirty="0">
                <a:solidFill>
                  <a:srgbClr val="1F2933"/>
                </a:solidFill>
                <a:latin typeface="Calibri" pitchFamily="34" charset="0"/>
                <a:ea typeface="Calibri" pitchFamily="34" charset="-122"/>
                <a:cs typeface="Calibri" pitchFamily="34" charset="-120"/>
              </a:rPr>
              <a:t>A two-week pilot, with a clear path to go-live</a:t>
            </a:r>
            <a:endParaRPr lang="en-US" sz="3000" dirty="0"/>
          </a:p>
        </p:txBody>
      </p:sp>
      <p:sp>
        <p:nvSpPr>
          <p:cNvPr id="3" name="ph0"/>
          <p:cNvSpPr/>
          <p:nvPr/>
        </p:nvSpPr>
        <p:spPr>
          <a:xfrm>
            <a:off x="548640" y="1280160"/>
            <a:ext cx="2560320" cy="2011680"/>
          </a:xfrm>
          <a:prstGeom prst="rect">
            <a:avLst/>
          </a:prstGeom>
          <a:solidFill>
            <a:srgbClr val="FFFFFF"/>
          </a:solidFill>
          <a:ln w="9525">
            <a:solidFill>
              <a:srgbClr val="D9DCE1"/>
            </a:solidFill>
            <a:prstDash val="solid"/>
          </a:ln>
        </p:spPr>
        <p:txBody>
          <a:bodyPr/>
          <a:p/>
        </p:txBody>
      </p:sp>
      <p:sp>
        <p:nvSpPr>
          <p:cNvPr id="4" name="Shape 2"/>
          <p:cNvSpPr/>
          <p:nvPr/>
        </p:nvSpPr>
        <p:spPr>
          <a:xfrm>
            <a:off x="548640" y="1280160"/>
            <a:ext cx="2560320" cy="0"/>
          </a:xfrm>
          <a:prstGeom prst="line">
            <a:avLst/>
          </a:prstGeom>
          <a:noFill/>
          <a:ln w="38100">
            <a:solidFill>
              <a:srgbClr val="1F5FBF"/>
            </a:solidFill>
            <a:prstDash val="solid"/>
          </a:ln>
        </p:spPr>
        <p:txBody>
          <a:bodyPr/>
          <a:p/>
        </p:txBody>
      </p:sp>
      <p:sp>
        <p:nvSpPr>
          <p:cNvPr id="5" name="Text 3"/>
          <p:cNvSpPr txBox="1"/>
          <p:nvPr/>
        </p:nvSpPr>
        <p:spPr>
          <a:xfrm>
            <a:off x="731520" y="1417320"/>
            <a:ext cx="2194560" cy="365760"/>
          </a:xfrm>
          <a:prstGeom prst="rect">
            <a:avLst/>
          </a:prstGeom>
          <a:noFill/>
          <a:ln/>
        </p:spPr>
        <p:txBody>
          <a:bodyPr wrap="square" lIns="0" tIns="0" rIns="0" bIns="0" rtlCol="0" anchor="ctr"/>
          <a:lstStyle/>
          <a:p>
            <a:pPr indent="0" marL="0">
              <a:buNone/>
            </a:pPr>
            <a:r>
              <a:rPr lang="en-US" sz="1800" b="1" dirty="0">
                <a:solidFill>
                  <a:srgbClr val="1F5FBF"/>
                </a:solidFill>
                <a:latin typeface="Calibri" pitchFamily="34" charset="0"/>
                <a:ea typeface="Calibri" pitchFamily="34" charset="-122"/>
                <a:cs typeface="Calibri" pitchFamily="34" charset="-120"/>
              </a:rPr>
              <a:t>Pilot</a:t>
            </a:r>
            <a:endParaRPr lang="en-US" sz="1800" dirty="0"/>
          </a:p>
        </p:txBody>
      </p:sp>
      <p:sp>
        <p:nvSpPr>
          <p:cNvPr id="6" name="Text 4"/>
          <p:cNvSpPr txBox="1"/>
          <p:nvPr/>
        </p:nvSpPr>
        <p:spPr>
          <a:xfrm>
            <a:off x="731520" y="1783080"/>
            <a:ext cx="2194560" cy="320040"/>
          </a:xfrm>
          <a:prstGeom prst="rect">
            <a:avLst/>
          </a:prstGeom>
          <a:noFill/>
          <a:ln/>
        </p:spPr>
        <p:txBody>
          <a:bodyPr wrap="square" lIns="0" tIns="0" rIns="0" bIns="0" rtlCol="0" anchor="ctr"/>
          <a:lstStyle/>
          <a:p>
            <a:pPr indent="0" marL="0">
              <a:buNone/>
            </a:pPr>
            <a:r>
              <a:rPr lang="en-US" sz="1400" b="1" dirty="0">
                <a:solidFill>
                  <a:srgbClr val="1F2933"/>
                </a:solidFill>
                <a:latin typeface="Calibri" pitchFamily="34" charset="0"/>
                <a:ea typeface="Calibri" pitchFamily="34" charset="-122"/>
                <a:cs typeface="Calibri" pitchFamily="34" charset="-120"/>
              </a:rPr>
              <a:t>[Start date] to [+2 weeks]</a:t>
            </a:r>
            <a:endParaRPr lang="en-US" sz="1400" dirty="0"/>
          </a:p>
        </p:txBody>
      </p:sp>
      <p:sp>
        <p:nvSpPr>
          <p:cNvPr id="7" name="Text 5"/>
          <p:cNvSpPr txBox="1"/>
          <p:nvPr/>
        </p:nvSpPr>
        <p:spPr>
          <a:xfrm>
            <a:off x="731520" y="2194560"/>
            <a:ext cx="2194560" cy="1005840"/>
          </a:xfrm>
          <a:prstGeom prst="rect">
            <a:avLst/>
          </a:prstGeom>
          <a:noFill/>
          <a:ln/>
        </p:spPr>
        <p:txBody>
          <a:bodyPr wrap="square" lIns="0" tIns="0" rIns="0" bIns="0" rtlCol="0" anchor="t"/>
          <a:lstStyle/>
          <a:p>
            <a:pPr marL="342900" indent="-342900">
              <a:spcAft>
                <a:spcPts val="600"/>
              </a:spcAft>
              <a:buSzPct val="100000"/>
              <a:buChar char="•"/>
            </a:pPr>
            <a:r>
              <a:rPr lang="en-US" sz="1300" dirty="0">
                <a:solidFill>
                  <a:srgbClr val="1F2933"/>
                </a:solidFill>
                <a:latin typeface="Calibri" pitchFamily="34" charset="0"/>
                <a:ea typeface="Calibri" pitchFamily="34" charset="-122"/>
                <a:cs typeface="Calibri" pitchFamily="34" charset="-120"/>
              </a:rPr>
              <a:t>[One workload, one dataset]</a:t>
            </a:r>
            <a:endParaRPr lang="en-US" sz="1300" dirty="0"/>
          </a:p>
          <a:p>
            <a:pPr marL="342900" indent="-342900">
              <a:spcAft>
                <a:spcPts val="600"/>
              </a:spcAft>
              <a:buSzPct val="100000"/>
              <a:buChar char="•"/>
            </a:pPr>
            <a:r>
              <a:rPr lang="en-US" sz="1300" dirty="0">
                <a:solidFill>
                  <a:srgbClr val="1F2933"/>
                </a:solidFill>
                <a:latin typeface="Calibri" pitchFamily="34" charset="0"/>
                <a:ea typeface="Calibri" pitchFamily="34" charset="-122"/>
                <a:cs typeface="Calibri" pitchFamily="34" charset="-120"/>
              </a:rPr>
              <a:t>[Named people on both sides]</a:t>
            </a:r>
            <a:endParaRPr lang="en-US" sz="1300" dirty="0"/>
          </a:p>
        </p:txBody>
      </p:sp>
      <p:sp>
        <p:nvSpPr>
          <p:cNvPr id="8" name="ph1"/>
          <p:cNvSpPr/>
          <p:nvPr/>
        </p:nvSpPr>
        <p:spPr>
          <a:xfrm>
            <a:off x="3291840" y="1280160"/>
            <a:ext cx="2560320" cy="2011680"/>
          </a:xfrm>
          <a:prstGeom prst="rect">
            <a:avLst/>
          </a:prstGeom>
          <a:solidFill>
            <a:srgbClr val="FFFFFF"/>
          </a:solidFill>
          <a:ln w="9525">
            <a:solidFill>
              <a:srgbClr val="D9DCE1"/>
            </a:solidFill>
            <a:prstDash val="solid"/>
          </a:ln>
        </p:spPr>
        <p:txBody>
          <a:bodyPr/>
          <a:p/>
        </p:txBody>
      </p:sp>
      <p:sp>
        <p:nvSpPr>
          <p:cNvPr id="9" name="Shape 7"/>
          <p:cNvSpPr/>
          <p:nvPr/>
        </p:nvSpPr>
        <p:spPr>
          <a:xfrm>
            <a:off x="3291840" y="1280160"/>
            <a:ext cx="2560320" cy="0"/>
          </a:xfrm>
          <a:prstGeom prst="line">
            <a:avLst/>
          </a:prstGeom>
          <a:noFill/>
          <a:ln w="38100">
            <a:solidFill>
              <a:srgbClr val="1F5FBF"/>
            </a:solidFill>
            <a:prstDash val="solid"/>
          </a:ln>
        </p:spPr>
        <p:txBody>
          <a:bodyPr/>
          <a:p/>
        </p:txBody>
      </p:sp>
      <p:sp>
        <p:nvSpPr>
          <p:cNvPr id="10" name="Text 8"/>
          <p:cNvSpPr txBox="1"/>
          <p:nvPr/>
        </p:nvSpPr>
        <p:spPr>
          <a:xfrm>
            <a:off x="3474720" y="1417320"/>
            <a:ext cx="2194560" cy="365760"/>
          </a:xfrm>
          <a:prstGeom prst="rect">
            <a:avLst/>
          </a:prstGeom>
          <a:noFill/>
          <a:ln/>
        </p:spPr>
        <p:txBody>
          <a:bodyPr wrap="square" lIns="0" tIns="0" rIns="0" bIns="0" rtlCol="0" anchor="ctr"/>
          <a:lstStyle/>
          <a:p>
            <a:pPr indent="0" marL="0">
              <a:buNone/>
            </a:pPr>
            <a:r>
              <a:rPr lang="en-US" sz="1800" b="1" dirty="0">
                <a:solidFill>
                  <a:srgbClr val="1F5FBF"/>
                </a:solidFill>
                <a:latin typeface="Calibri" pitchFamily="34" charset="0"/>
                <a:ea typeface="Calibri" pitchFamily="34" charset="-122"/>
                <a:cs typeface="Calibri" pitchFamily="34" charset="-120"/>
              </a:rPr>
              <a:t>Adjust</a:t>
            </a:r>
            <a:endParaRPr lang="en-US" sz="1800" dirty="0"/>
          </a:p>
        </p:txBody>
      </p:sp>
      <p:sp>
        <p:nvSpPr>
          <p:cNvPr id="11" name="Text 9"/>
          <p:cNvSpPr txBox="1"/>
          <p:nvPr/>
        </p:nvSpPr>
        <p:spPr>
          <a:xfrm>
            <a:off x="3474720" y="1783080"/>
            <a:ext cx="2194560" cy="320040"/>
          </a:xfrm>
          <a:prstGeom prst="rect">
            <a:avLst/>
          </a:prstGeom>
          <a:noFill/>
          <a:ln/>
        </p:spPr>
        <p:txBody>
          <a:bodyPr wrap="square" lIns="0" tIns="0" rIns="0" bIns="0" rtlCol="0" anchor="ctr"/>
          <a:lstStyle/>
          <a:p>
            <a:pPr indent="0" marL="0">
              <a:buNone/>
            </a:pPr>
            <a:r>
              <a:rPr lang="en-US" sz="1400" b="1" dirty="0">
                <a:solidFill>
                  <a:srgbClr val="1F2933"/>
                </a:solidFill>
                <a:latin typeface="Calibri" pitchFamily="34" charset="0"/>
                <a:ea typeface="Calibri" pitchFamily="34" charset="-122"/>
                <a:cs typeface="Calibri" pitchFamily="34" charset="-120"/>
              </a:rPr>
              <a:t>[1 week]</a:t>
            </a:r>
            <a:endParaRPr lang="en-US" sz="1400" dirty="0"/>
          </a:p>
        </p:txBody>
      </p:sp>
      <p:sp>
        <p:nvSpPr>
          <p:cNvPr id="12" name="Text 10"/>
          <p:cNvSpPr txBox="1"/>
          <p:nvPr/>
        </p:nvSpPr>
        <p:spPr>
          <a:xfrm>
            <a:off x="3474720" y="2194560"/>
            <a:ext cx="2194560" cy="1005840"/>
          </a:xfrm>
          <a:prstGeom prst="rect">
            <a:avLst/>
          </a:prstGeom>
          <a:noFill/>
          <a:ln/>
        </p:spPr>
        <p:txBody>
          <a:bodyPr wrap="square" lIns="0" tIns="0" rIns="0" bIns="0" rtlCol="0" anchor="t"/>
          <a:lstStyle/>
          <a:p>
            <a:pPr marL="342900" indent="-342900">
              <a:spcAft>
                <a:spcPts val="600"/>
              </a:spcAft>
              <a:buSzPct val="100000"/>
              <a:buChar char="•"/>
            </a:pPr>
            <a:r>
              <a:rPr lang="en-US" sz="1300" dirty="0">
                <a:solidFill>
                  <a:srgbClr val="1F2933"/>
                </a:solidFill>
                <a:latin typeface="Calibri" pitchFamily="34" charset="0"/>
                <a:ea typeface="Calibri" pitchFamily="34" charset="-122"/>
                <a:cs typeface="Calibri" pitchFamily="34" charset="-120"/>
              </a:rPr>
              <a:t>[Tweaks from what we learn]</a:t>
            </a:r>
            <a:endParaRPr lang="en-US" sz="1300" dirty="0"/>
          </a:p>
          <a:p>
            <a:pPr marL="342900" indent="-342900">
              <a:spcAft>
                <a:spcPts val="600"/>
              </a:spcAft>
              <a:buSzPct val="100000"/>
              <a:buChar char="•"/>
            </a:pPr>
            <a:r>
              <a:rPr lang="en-US" sz="1300" dirty="0">
                <a:solidFill>
                  <a:srgbClr val="1F2933"/>
                </a:solidFill>
                <a:latin typeface="Calibri" pitchFamily="34" charset="0"/>
                <a:ea typeface="Calibri" pitchFamily="34" charset="-122"/>
                <a:cs typeface="Calibri" pitchFamily="34" charset="-120"/>
              </a:rPr>
              <a:t>[Review against the measure]</a:t>
            </a:r>
            <a:endParaRPr lang="en-US" sz="1300" dirty="0"/>
          </a:p>
        </p:txBody>
      </p:sp>
      <p:sp>
        <p:nvSpPr>
          <p:cNvPr id="13" name="ph2"/>
          <p:cNvSpPr/>
          <p:nvPr/>
        </p:nvSpPr>
        <p:spPr>
          <a:xfrm>
            <a:off x="6035040" y="1280160"/>
            <a:ext cx="2560320" cy="2011680"/>
          </a:xfrm>
          <a:prstGeom prst="rect">
            <a:avLst/>
          </a:prstGeom>
          <a:solidFill>
            <a:srgbClr val="FFFFFF"/>
          </a:solidFill>
          <a:ln w="9525">
            <a:solidFill>
              <a:srgbClr val="D9DCE1"/>
            </a:solidFill>
            <a:prstDash val="solid"/>
          </a:ln>
        </p:spPr>
        <p:txBody>
          <a:bodyPr/>
          <a:p/>
        </p:txBody>
      </p:sp>
      <p:sp>
        <p:nvSpPr>
          <p:cNvPr id="14" name="Shape 12"/>
          <p:cNvSpPr/>
          <p:nvPr/>
        </p:nvSpPr>
        <p:spPr>
          <a:xfrm>
            <a:off x="6035040" y="1280160"/>
            <a:ext cx="2560320" cy="0"/>
          </a:xfrm>
          <a:prstGeom prst="line">
            <a:avLst/>
          </a:prstGeom>
          <a:noFill/>
          <a:ln w="38100">
            <a:solidFill>
              <a:srgbClr val="1F5FBF"/>
            </a:solidFill>
            <a:prstDash val="solid"/>
          </a:ln>
        </p:spPr>
        <p:txBody>
          <a:bodyPr/>
          <a:p/>
        </p:txBody>
      </p:sp>
      <p:sp>
        <p:nvSpPr>
          <p:cNvPr id="15" name="Text 13"/>
          <p:cNvSpPr txBox="1"/>
          <p:nvPr/>
        </p:nvSpPr>
        <p:spPr>
          <a:xfrm>
            <a:off x="6217920" y="1417320"/>
            <a:ext cx="2194560" cy="365760"/>
          </a:xfrm>
          <a:prstGeom prst="rect">
            <a:avLst/>
          </a:prstGeom>
          <a:noFill/>
          <a:ln/>
        </p:spPr>
        <p:txBody>
          <a:bodyPr wrap="square" lIns="0" tIns="0" rIns="0" bIns="0" rtlCol="0" anchor="ctr"/>
          <a:lstStyle/>
          <a:p>
            <a:pPr indent="0" marL="0">
              <a:buNone/>
            </a:pPr>
            <a:r>
              <a:rPr lang="en-US" sz="1800" b="1" dirty="0">
                <a:solidFill>
                  <a:srgbClr val="1F5FBF"/>
                </a:solidFill>
                <a:latin typeface="Calibri" pitchFamily="34" charset="0"/>
                <a:ea typeface="Calibri" pitchFamily="34" charset="-122"/>
                <a:cs typeface="Calibri" pitchFamily="34" charset="-120"/>
              </a:rPr>
              <a:t>Go live</a:t>
            </a:r>
            <a:endParaRPr lang="en-US" sz="1800" dirty="0"/>
          </a:p>
        </p:txBody>
      </p:sp>
      <p:sp>
        <p:nvSpPr>
          <p:cNvPr id="16" name="Text 14"/>
          <p:cNvSpPr txBox="1"/>
          <p:nvPr/>
        </p:nvSpPr>
        <p:spPr>
          <a:xfrm>
            <a:off x="6217920" y="1783080"/>
            <a:ext cx="2194560" cy="320040"/>
          </a:xfrm>
          <a:prstGeom prst="rect">
            <a:avLst/>
          </a:prstGeom>
          <a:noFill/>
          <a:ln/>
        </p:spPr>
        <p:txBody>
          <a:bodyPr wrap="square" lIns="0" tIns="0" rIns="0" bIns="0" rtlCol="0" anchor="ctr"/>
          <a:lstStyle/>
          <a:p>
            <a:pPr indent="0" marL="0">
              <a:buNone/>
            </a:pPr>
            <a:r>
              <a:rPr lang="en-US" sz="1400" b="1" dirty="0">
                <a:solidFill>
                  <a:srgbClr val="1F2933"/>
                </a:solidFill>
                <a:latin typeface="Calibri" pitchFamily="34" charset="0"/>
                <a:ea typeface="Calibri" pitchFamily="34" charset="-122"/>
                <a:cs typeface="Calibri" pitchFamily="34" charset="-120"/>
              </a:rPr>
              <a:t>[Go-live week: Monday date]</a:t>
            </a:r>
            <a:endParaRPr lang="en-US" sz="1400" dirty="0"/>
          </a:p>
        </p:txBody>
      </p:sp>
      <p:sp>
        <p:nvSpPr>
          <p:cNvPr id="17" name="Text 15"/>
          <p:cNvSpPr txBox="1"/>
          <p:nvPr/>
        </p:nvSpPr>
        <p:spPr>
          <a:xfrm>
            <a:off x="6217920" y="2194560"/>
            <a:ext cx="2194560" cy="1005840"/>
          </a:xfrm>
          <a:prstGeom prst="rect">
            <a:avLst/>
          </a:prstGeom>
          <a:noFill/>
          <a:ln/>
        </p:spPr>
        <p:txBody>
          <a:bodyPr wrap="square" lIns="0" tIns="0" rIns="0" bIns="0" rtlCol="0" anchor="t"/>
          <a:lstStyle/>
          <a:p>
            <a:pPr marL="342900" indent="-342900">
              <a:spcAft>
                <a:spcPts val="600"/>
              </a:spcAft>
              <a:buSzPct val="100000"/>
              <a:buChar char="•"/>
            </a:pPr>
            <a:r>
              <a:rPr lang="en-US" sz="1300" dirty="0">
                <a:solidFill>
                  <a:srgbClr val="1F2933"/>
                </a:solidFill>
                <a:latin typeface="Calibri" pitchFamily="34" charset="0"/>
                <a:ea typeface="Calibri" pitchFamily="34" charset="-122"/>
                <a:cs typeface="Calibri" pitchFamily="34" charset="-120"/>
              </a:rPr>
              <a:t>[Rollout to the first teams]</a:t>
            </a:r>
            <a:endParaRPr lang="en-US" sz="1300" dirty="0"/>
          </a:p>
          <a:p>
            <a:pPr marL="342900" indent="-342900">
              <a:spcAft>
                <a:spcPts val="600"/>
              </a:spcAft>
              <a:buSzPct val="100000"/>
              <a:buChar char="•"/>
            </a:pPr>
            <a:r>
              <a:rPr lang="en-US" sz="1300" dirty="0">
                <a:solidFill>
                  <a:srgbClr val="1F2933"/>
                </a:solidFill>
                <a:latin typeface="Calibri" pitchFamily="34" charset="0"/>
                <a:ea typeface="Calibri" pitchFamily="34" charset="-122"/>
                <a:cs typeface="Calibri" pitchFamily="34" charset="-120"/>
              </a:rPr>
              <a:t>[Owners and support]</a:t>
            </a:r>
            <a:endParaRPr lang="en-US" sz="1300" dirty="0"/>
          </a:p>
        </p:txBody>
      </p:sp>
      <p:sp>
        <p:nvSpPr>
          <p:cNvPr id="18" name="Text 16"/>
          <p:cNvSpPr txBox="1"/>
          <p:nvPr/>
        </p:nvSpPr>
        <p:spPr>
          <a:xfrm>
            <a:off x="548640" y="3520440"/>
            <a:ext cx="8046720" cy="365760"/>
          </a:xfrm>
          <a:prstGeom prst="rect">
            <a:avLst/>
          </a:prstGeom>
          <a:noFill/>
          <a:ln/>
        </p:spPr>
        <p:txBody>
          <a:bodyPr wrap="square" lIns="0" tIns="0" rIns="0" bIns="0" rtlCol="0" anchor="ctr"/>
          <a:lstStyle/>
          <a:p>
            <a:pPr indent="0" marL="0">
              <a:buNone/>
            </a:pPr>
            <a:r>
              <a:rPr lang="en-US" sz="1500" b="1" dirty="0">
                <a:solidFill>
                  <a:srgbClr val="1F2933"/>
                </a:solidFill>
                <a:latin typeface="Calibri" pitchFamily="34" charset="0"/>
                <a:ea typeface="Calibri" pitchFamily="34" charset="-122"/>
                <a:cs typeface="Calibri" pitchFamily="34" charset="-120"/>
              </a:rPr>
              <a:t>Success at day 14: [measure 1]  |  [measure 2]  |  [measure 3]</a:t>
            </a:r>
            <a:endParaRPr lang="en-US" sz="1500" dirty="0"/>
          </a:p>
        </p:txBody>
      </p:sp>
      <p:sp>
        <p:nvSpPr>
          <p:cNvPr id="19" name="Text 17"/>
          <p:cNvSpPr txBox="1"/>
          <p:nvPr/>
        </p:nvSpPr>
        <p:spPr>
          <a:xfrm>
            <a:off x="548640" y="3977640"/>
            <a:ext cx="8046720" cy="365760"/>
          </a:xfrm>
          <a:prstGeom prst="rect">
            <a:avLst/>
          </a:prstGeom>
          <a:noFill/>
          <a:ln/>
        </p:spPr>
        <p:txBody>
          <a:bodyPr wrap="square" lIns="0" tIns="0" rIns="0" bIns="0" rtlCol="0" anchor="ctr"/>
          <a:lstStyle/>
          <a:p>
            <a:pPr indent="0" marL="0">
              <a:buNone/>
            </a:pPr>
            <a:r>
              <a:rPr lang="en-US" sz="1400" dirty="0">
                <a:solidFill>
                  <a:srgbClr val="6B7280"/>
                </a:solidFill>
                <a:latin typeface="Calibri" pitchFamily="34" charset="0"/>
                <a:ea typeface="Calibri" pitchFamily="34" charset="-122"/>
                <a:cs typeface="Calibri" pitchFamily="34" charset="-120"/>
              </a:rPr>
              <a:t>What I need from you: [data access]  |  [two named people]  |  [a decision date]</a:t>
            </a:r>
            <a:endParaRPr lang="en-US" sz="1400" dirty="0"/>
          </a:p>
        </p:txBody>
      </p:sp>
      <p:sp>
        <p:nvSpPr>
          <p:cNvPr id="25" name="Slide Number Placeholder 0"/>
          <p:cNvSpPr>
            <a:spLocks noGrp="1"/>
          </p:cNvSpPr>
          <p:nvPr>
            <p:ph type="sldNum" sz="quarter" idx="4294967295"/>
          </p:nvPr>
        </p:nvSpPr>
        <p:spPr>
          <a:xfrm>
            <a:off x="8412480" y="4800600"/>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rgbClr val="6B7280"/>
                </a:solidFill>
              </a:defRPr>
            </a:lvl1pPr>
          </a:lstStyle>
          <a:p>
            <a:pPr algn="l"/>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8046720" cy="731520"/>
          </a:xfrm>
          <a:prstGeom prst="rect">
            <a:avLst/>
          </a:prstGeom>
          <a:noFill/>
          <a:ln/>
        </p:spPr>
        <p:txBody>
          <a:bodyPr wrap="square" lIns="0" tIns="0" rIns="0" bIns="0" rtlCol="0" anchor="ctr"/>
          <a:lstStyle/>
          <a:p>
            <a:pPr algn="l" indent="0" marL="0">
              <a:buNone/>
            </a:pPr>
            <a:r>
              <a:rPr lang="en-US" sz="3000" b="1" dirty="0">
                <a:solidFill>
                  <a:srgbClr val="1F2933"/>
                </a:solidFill>
                <a:latin typeface="Calibri" pitchFamily="34" charset="0"/>
                <a:ea typeface="Calibri" pitchFamily="34" charset="-122"/>
                <a:cs typeface="Calibri" pitchFamily="34" charset="-120"/>
              </a:rPr>
              <a:t>Next steps</a:t>
            </a:r>
            <a:endParaRPr lang="en-US" sz="3000" dirty="0"/>
          </a:p>
        </p:txBody>
      </p:sp>
      <p:sp>
        <p:nvSpPr>
          <p:cNvPr id="3" name="Shape 1"/>
          <p:cNvSpPr/>
          <p:nvPr/>
        </p:nvSpPr>
        <p:spPr>
          <a:xfrm>
            <a:off x="548640" y="1097280"/>
            <a:ext cx="1097280" cy="0"/>
          </a:xfrm>
          <a:prstGeom prst="line">
            <a:avLst/>
          </a:prstGeom>
          <a:noFill/>
          <a:ln w="25400">
            <a:solidFill>
              <a:srgbClr val="1F5FBF"/>
            </a:solidFill>
            <a:prstDash val="solid"/>
          </a:ln>
        </p:spPr>
        <p:txBody>
          <a:bodyPr/>
          <a:p/>
        </p:txBody>
      </p:sp>
      <p:sp>
        <p:nvSpPr>
          <p:cNvPr id="4" name="ns0"/>
          <p:cNvSpPr/>
          <p:nvPr/>
        </p:nvSpPr>
        <p:spPr>
          <a:xfrm>
            <a:off x="548640" y="1371600"/>
            <a:ext cx="8046720" cy="566928"/>
          </a:xfrm>
          <a:prstGeom prst="rect">
            <a:avLst/>
          </a:prstGeom>
          <a:solidFill>
            <a:srgbClr val="FFFFFF"/>
          </a:solidFill>
          <a:ln w="9525">
            <a:solidFill>
              <a:srgbClr val="D9DCE1"/>
            </a:solidFill>
            <a:prstDash val="solid"/>
          </a:ln>
        </p:spPr>
        <p:txBody>
          <a:bodyPr/>
          <a:p/>
        </p:txBody>
      </p:sp>
      <p:sp>
        <p:nvSpPr>
          <p:cNvPr id="5" name="Text 3"/>
          <p:cNvSpPr txBox="1"/>
          <p:nvPr/>
        </p:nvSpPr>
        <p:spPr>
          <a:xfrm>
            <a:off x="731520" y="1371600"/>
            <a:ext cx="2011680" cy="566928"/>
          </a:xfrm>
          <a:prstGeom prst="rect">
            <a:avLst/>
          </a:prstGeom>
          <a:noFill/>
          <a:ln/>
        </p:spPr>
        <p:txBody>
          <a:bodyPr wrap="square" lIns="0" tIns="0" rIns="0" bIns="0" rtlCol="0" anchor="ctr"/>
          <a:lstStyle/>
          <a:p>
            <a:pPr indent="0" marL="0">
              <a:buNone/>
            </a:pPr>
            <a:r>
              <a:rPr lang="en-US" sz="1500" b="1" dirty="0">
                <a:solidFill>
                  <a:srgbClr val="1F5FBF"/>
                </a:solidFill>
                <a:latin typeface="Calibri" pitchFamily="34" charset="0"/>
                <a:ea typeface="Calibri" pitchFamily="34" charset="-122"/>
                <a:cs typeface="Calibri" pitchFamily="34" charset="-120"/>
              </a:rPr>
              <a:t>[Date]</a:t>
            </a:r>
            <a:endParaRPr lang="en-US" sz="1500" dirty="0"/>
          </a:p>
        </p:txBody>
      </p:sp>
      <p:sp>
        <p:nvSpPr>
          <p:cNvPr id="6" name="Text 4"/>
          <p:cNvSpPr txBox="1"/>
          <p:nvPr/>
        </p:nvSpPr>
        <p:spPr>
          <a:xfrm>
            <a:off x="2834640" y="1371600"/>
            <a:ext cx="2560320" cy="566928"/>
          </a:xfrm>
          <a:prstGeom prst="rect">
            <a:avLst/>
          </a:prstGeom>
          <a:noFill/>
          <a:ln/>
        </p:spPr>
        <p:txBody>
          <a:bodyPr wrap="square" lIns="0" tIns="0" rIns="0" bIns="0" rtlCol="0" anchor="ctr"/>
          <a:lstStyle/>
          <a:p>
            <a:pPr indent="0" marL="0">
              <a:buNone/>
            </a:pPr>
            <a:r>
              <a:rPr lang="en-US" sz="1500" b="1" dirty="0">
                <a:solidFill>
                  <a:srgbClr val="1F2933"/>
                </a:solidFill>
                <a:latin typeface="Calibri" pitchFamily="34" charset="0"/>
                <a:ea typeface="Calibri" pitchFamily="34" charset="-122"/>
                <a:cs typeface="Calibri" pitchFamily="34" charset="-120"/>
              </a:rPr>
              <a:t>Pilot kickoff</a:t>
            </a:r>
            <a:endParaRPr lang="en-US" sz="1500" dirty="0"/>
          </a:p>
        </p:txBody>
      </p:sp>
      <p:sp>
        <p:nvSpPr>
          <p:cNvPr id="7" name="Text 5"/>
          <p:cNvSpPr txBox="1"/>
          <p:nvPr/>
        </p:nvSpPr>
        <p:spPr>
          <a:xfrm>
            <a:off x="5486400" y="1371600"/>
            <a:ext cx="2926080" cy="566928"/>
          </a:xfrm>
          <a:prstGeom prst="rect">
            <a:avLst/>
          </a:prstGeom>
          <a:noFill/>
          <a:ln/>
        </p:spPr>
        <p:txBody>
          <a:bodyPr wrap="square" lIns="0" tIns="0" rIns="0" bIns="0" rtlCol="0" anchor="ctr"/>
          <a:lstStyle/>
          <a:p>
            <a:pPr indent="0" marL="0">
              <a:buNone/>
            </a:pPr>
            <a:r>
              <a:rPr lang="en-US" sz="1300" dirty="0">
                <a:solidFill>
                  <a:srgbClr val="6B7280"/>
                </a:solidFill>
                <a:latin typeface="Calibri" pitchFamily="34" charset="0"/>
                <a:ea typeface="Calibri" pitchFamily="34" charset="-122"/>
                <a:cs typeface="Calibri" pitchFamily="34" charset="-120"/>
              </a:rPr>
              <a:t>[Owner on both sides]</a:t>
            </a:r>
            <a:endParaRPr lang="en-US" sz="1300" dirty="0"/>
          </a:p>
        </p:txBody>
      </p:sp>
      <p:sp>
        <p:nvSpPr>
          <p:cNvPr id="8" name="ns1"/>
          <p:cNvSpPr/>
          <p:nvPr/>
        </p:nvSpPr>
        <p:spPr>
          <a:xfrm>
            <a:off x="548640" y="2057400"/>
            <a:ext cx="8046720" cy="566928"/>
          </a:xfrm>
          <a:prstGeom prst="rect">
            <a:avLst/>
          </a:prstGeom>
          <a:solidFill>
            <a:srgbClr val="FFFFFF"/>
          </a:solidFill>
          <a:ln w="9525">
            <a:solidFill>
              <a:srgbClr val="D9DCE1"/>
            </a:solidFill>
            <a:prstDash val="solid"/>
          </a:ln>
        </p:spPr>
        <p:txBody>
          <a:bodyPr/>
          <a:p/>
        </p:txBody>
      </p:sp>
      <p:sp>
        <p:nvSpPr>
          <p:cNvPr id="9" name="Text 7"/>
          <p:cNvSpPr txBox="1"/>
          <p:nvPr/>
        </p:nvSpPr>
        <p:spPr>
          <a:xfrm>
            <a:off x="731520" y="2057400"/>
            <a:ext cx="2011680" cy="566928"/>
          </a:xfrm>
          <a:prstGeom prst="rect">
            <a:avLst/>
          </a:prstGeom>
          <a:noFill/>
          <a:ln/>
        </p:spPr>
        <p:txBody>
          <a:bodyPr wrap="square" lIns="0" tIns="0" rIns="0" bIns="0" rtlCol="0" anchor="ctr"/>
          <a:lstStyle/>
          <a:p>
            <a:pPr indent="0" marL="0">
              <a:buNone/>
            </a:pPr>
            <a:r>
              <a:rPr lang="en-US" sz="1500" b="1" dirty="0">
                <a:solidFill>
                  <a:srgbClr val="1F5FBF"/>
                </a:solidFill>
                <a:latin typeface="Calibri" pitchFamily="34" charset="0"/>
                <a:ea typeface="Calibri" pitchFamily="34" charset="-122"/>
                <a:cs typeface="Calibri" pitchFamily="34" charset="-120"/>
              </a:rPr>
              <a:t>[Date + 2 wks]</a:t>
            </a:r>
            <a:endParaRPr lang="en-US" sz="1500" dirty="0"/>
          </a:p>
        </p:txBody>
      </p:sp>
      <p:sp>
        <p:nvSpPr>
          <p:cNvPr id="10" name="Text 8"/>
          <p:cNvSpPr txBox="1"/>
          <p:nvPr/>
        </p:nvSpPr>
        <p:spPr>
          <a:xfrm>
            <a:off x="2834640" y="2057400"/>
            <a:ext cx="2560320" cy="566928"/>
          </a:xfrm>
          <a:prstGeom prst="rect">
            <a:avLst/>
          </a:prstGeom>
          <a:noFill/>
          <a:ln/>
        </p:spPr>
        <p:txBody>
          <a:bodyPr wrap="square" lIns="0" tIns="0" rIns="0" bIns="0" rtlCol="0" anchor="ctr"/>
          <a:lstStyle/>
          <a:p>
            <a:pPr indent="0" marL="0">
              <a:buNone/>
            </a:pPr>
            <a:r>
              <a:rPr lang="en-US" sz="1500" b="1" dirty="0">
                <a:solidFill>
                  <a:srgbClr val="1F2933"/>
                </a:solidFill>
                <a:latin typeface="Calibri" pitchFamily="34" charset="0"/>
                <a:ea typeface="Calibri" pitchFamily="34" charset="-122"/>
                <a:cs typeface="Calibri" pitchFamily="34" charset="-120"/>
              </a:rPr>
              <a:t>Day-14 review</a:t>
            </a:r>
            <a:endParaRPr lang="en-US" sz="1500" dirty="0"/>
          </a:p>
        </p:txBody>
      </p:sp>
      <p:sp>
        <p:nvSpPr>
          <p:cNvPr id="11" name="Text 9"/>
          <p:cNvSpPr txBox="1"/>
          <p:nvPr/>
        </p:nvSpPr>
        <p:spPr>
          <a:xfrm>
            <a:off x="5486400" y="2057400"/>
            <a:ext cx="2926080" cy="566928"/>
          </a:xfrm>
          <a:prstGeom prst="rect">
            <a:avLst/>
          </a:prstGeom>
          <a:noFill/>
          <a:ln/>
        </p:spPr>
        <p:txBody>
          <a:bodyPr wrap="square" lIns="0" tIns="0" rIns="0" bIns="0" rtlCol="0" anchor="ctr"/>
          <a:lstStyle/>
          <a:p>
            <a:pPr indent="0" marL="0">
              <a:buNone/>
            </a:pPr>
            <a:r>
              <a:rPr lang="en-US" sz="1300" dirty="0">
                <a:solidFill>
                  <a:srgbClr val="6B7280"/>
                </a:solidFill>
                <a:latin typeface="Calibri" pitchFamily="34" charset="0"/>
                <a:ea typeface="Calibri" pitchFamily="34" charset="-122"/>
                <a:cs typeface="Calibri" pitchFamily="34" charset="-120"/>
              </a:rPr>
              <a:t>Against the measures on slide 3</a:t>
            </a:r>
            <a:endParaRPr lang="en-US" sz="1300" dirty="0"/>
          </a:p>
        </p:txBody>
      </p:sp>
      <p:sp>
        <p:nvSpPr>
          <p:cNvPr id="12" name="ns2"/>
          <p:cNvSpPr/>
          <p:nvPr/>
        </p:nvSpPr>
        <p:spPr>
          <a:xfrm>
            <a:off x="548640" y="2743200"/>
            <a:ext cx="8046720" cy="566928"/>
          </a:xfrm>
          <a:prstGeom prst="rect">
            <a:avLst/>
          </a:prstGeom>
          <a:solidFill>
            <a:srgbClr val="FFFFFF"/>
          </a:solidFill>
          <a:ln w="9525">
            <a:solidFill>
              <a:srgbClr val="D9DCE1"/>
            </a:solidFill>
            <a:prstDash val="solid"/>
          </a:ln>
        </p:spPr>
        <p:txBody>
          <a:bodyPr/>
          <a:p/>
        </p:txBody>
      </p:sp>
      <p:sp>
        <p:nvSpPr>
          <p:cNvPr id="13" name="Text 11"/>
          <p:cNvSpPr txBox="1"/>
          <p:nvPr/>
        </p:nvSpPr>
        <p:spPr>
          <a:xfrm>
            <a:off x="731520" y="2743200"/>
            <a:ext cx="2011680" cy="566928"/>
          </a:xfrm>
          <a:prstGeom prst="rect">
            <a:avLst/>
          </a:prstGeom>
          <a:noFill/>
          <a:ln/>
        </p:spPr>
        <p:txBody>
          <a:bodyPr wrap="square" lIns="0" tIns="0" rIns="0" bIns="0" rtlCol="0" anchor="ctr"/>
          <a:lstStyle/>
          <a:p>
            <a:pPr indent="0" marL="0">
              <a:buNone/>
            </a:pPr>
            <a:r>
              <a:rPr lang="en-US" sz="1500" b="1" dirty="0">
                <a:solidFill>
                  <a:srgbClr val="1F5FBF"/>
                </a:solidFill>
                <a:latin typeface="Calibri" pitchFamily="34" charset="0"/>
                <a:ea typeface="Calibri" pitchFamily="34" charset="-122"/>
                <a:cs typeface="Calibri" pitchFamily="34" charset="-120"/>
              </a:rPr>
              <a:t>[Date]</a:t>
            </a:r>
            <a:endParaRPr lang="en-US" sz="1500" dirty="0"/>
          </a:p>
        </p:txBody>
      </p:sp>
      <p:sp>
        <p:nvSpPr>
          <p:cNvPr id="14" name="Text 12"/>
          <p:cNvSpPr txBox="1"/>
          <p:nvPr/>
        </p:nvSpPr>
        <p:spPr>
          <a:xfrm>
            <a:off x="2834640" y="2743200"/>
            <a:ext cx="2560320" cy="566928"/>
          </a:xfrm>
          <a:prstGeom prst="rect">
            <a:avLst/>
          </a:prstGeom>
          <a:noFill/>
          <a:ln/>
        </p:spPr>
        <p:txBody>
          <a:bodyPr wrap="square" lIns="0" tIns="0" rIns="0" bIns="0" rtlCol="0" anchor="ctr"/>
          <a:lstStyle/>
          <a:p>
            <a:pPr indent="0" marL="0">
              <a:buNone/>
            </a:pPr>
            <a:r>
              <a:rPr lang="en-US" sz="1500" b="1" dirty="0">
                <a:solidFill>
                  <a:srgbClr val="1F2933"/>
                </a:solidFill>
                <a:latin typeface="Calibri" pitchFamily="34" charset="0"/>
                <a:ea typeface="Calibri" pitchFamily="34" charset="-122"/>
                <a:cs typeface="Calibri" pitchFamily="34" charset="-120"/>
              </a:rPr>
              <a:t>Adjustment complete</a:t>
            </a:r>
            <a:endParaRPr lang="en-US" sz="1500" dirty="0"/>
          </a:p>
        </p:txBody>
      </p:sp>
      <p:sp>
        <p:nvSpPr>
          <p:cNvPr id="15" name="Text 13"/>
          <p:cNvSpPr txBox="1"/>
          <p:nvPr/>
        </p:nvSpPr>
        <p:spPr>
          <a:xfrm>
            <a:off x="5486400" y="2743200"/>
            <a:ext cx="2926080" cy="566928"/>
          </a:xfrm>
          <a:prstGeom prst="rect">
            <a:avLst/>
          </a:prstGeom>
          <a:noFill/>
          <a:ln/>
        </p:spPr>
        <p:txBody>
          <a:bodyPr wrap="square" lIns="0" tIns="0" rIns="0" bIns="0" rtlCol="0" anchor="ctr"/>
          <a:lstStyle/>
          <a:p>
            <a:pPr indent="0" marL="0">
              <a:buNone/>
            </a:pPr>
            <a:r>
              <a:rPr lang="en-US" sz="1300" dirty="0">
                <a:solidFill>
                  <a:srgbClr val="6B7280"/>
                </a:solidFill>
                <a:latin typeface="Calibri" pitchFamily="34" charset="0"/>
                <a:ea typeface="Calibri" pitchFamily="34" charset="-122"/>
                <a:cs typeface="Calibri" pitchFamily="34" charset="-120"/>
              </a:rPr>
              <a:t>Decision to go live</a:t>
            </a:r>
            <a:endParaRPr lang="en-US" sz="1300" dirty="0"/>
          </a:p>
        </p:txBody>
      </p:sp>
      <p:sp>
        <p:nvSpPr>
          <p:cNvPr id="16" name="ns3"/>
          <p:cNvSpPr/>
          <p:nvPr/>
        </p:nvSpPr>
        <p:spPr>
          <a:xfrm>
            <a:off x="548640" y="3429000"/>
            <a:ext cx="8046720" cy="566928"/>
          </a:xfrm>
          <a:prstGeom prst="rect">
            <a:avLst/>
          </a:prstGeom>
          <a:solidFill>
            <a:srgbClr val="FFFFFF"/>
          </a:solidFill>
          <a:ln w="9525">
            <a:solidFill>
              <a:srgbClr val="D9DCE1"/>
            </a:solidFill>
            <a:prstDash val="solid"/>
          </a:ln>
        </p:spPr>
        <p:txBody>
          <a:bodyPr/>
          <a:p/>
        </p:txBody>
      </p:sp>
      <p:sp>
        <p:nvSpPr>
          <p:cNvPr id="17" name="Text 15"/>
          <p:cNvSpPr txBox="1"/>
          <p:nvPr/>
        </p:nvSpPr>
        <p:spPr>
          <a:xfrm>
            <a:off x="731520" y="3429000"/>
            <a:ext cx="2011680" cy="566928"/>
          </a:xfrm>
          <a:prstGeom prst="rect">
            <a:avLst/>
          </a:prstGeom>
          <a:noFill/>
          <a:ln/>
        </p:spPr>
        <p:txBody>
          <a:bodyPr wrap="square" lIns="0" tIns="0" rIns="0" bIns="0" rtlCol="0" anchor="ctr"/>
          <a:lstStyle/>
          <a:p>
            <a:pPr indent="0" marL="0">
              <a:buNone/>
            </a:pPr>
            <a:r>
              <a:rPr lang="en-US" sz="1500" b="1" dirty="0">
                <a:solidFill>
                  <a:srgbClr val="1F5FBF"/>
                </a:solidFill>
                <a:latin typeface="Calibri" pitchFamily="34" charset="0"/>
                <a:ea typeface="Calibri" pitchFamily="34" charset="-122"/>
                <a:cs typeface="Calibri" pitchFamily="34" charset="-120"/>
              </a:rPr>
              <a:t>[Go-live week: Monday date]</a:t>
            </a:r>
            <a:endParaRPr lang="en-US" sz="1500" dirty="0"/>
          </a:p>
        </p:txBody>
      </p:sp>
      <p:sp>
        <p:nvSpPr>
          <p:cNvPr id="18" name="Text 16"/>
          <p:cNvSpPr txBox="1"/>
          <p:nvPr/>
        </p:nvSpPr>
        <p:spPr>
          <a:xfrm>
            <a:off x="2834640" y="3429000"/>
            <a:ext cx="2560320" cy="566928"/>
          </a:xfrm>
          <a:prstGeom prst="rect">
            <a:avLst/>
          </a:prstGeom>
          <a:noFill/>
          <a:ln/>
        </p:spPr>
        <p:txBody>
          <a:bodyPr wrap="square" lIns="0" tIns="0" rIns="0" bIns="0" rtlCol="0" anchor="ctr"/>
          <a:lstStyle/>
          <a:p>
            <a:pPr indent="0" marL="0">
              <a:buNone/>
            </a:pPr>
            <a:r>
              <a:rPr lang="en-US" sz="1500" b="1" dirty="0">
                <a:solidFill>
                  <a:srgbClr val="1F2933"/>
                </a:solidFill>
                <a:latin typeface="Calibri" pitchFamily="34" charset="0"/>
                <a:ea typeface="Calibri" pitchFamily="34" charset="-122"/>
                <a:cs typeface="Calibri" pitchFamily="34" charset="-120"/>
              </a:rPr>
              <a:t>Go live</a:t>
            </a:r>
            <a:endParaRPr lang="en-US" sz="1500" dirty="0"/>
          </a:p>
        </p:txBody>
      </p:sp>
      <p:sp>
        <p:nvSpPr>
          <p:cNvPr id="19" name="Text 17"/>
          <p:cNvSpPr txBox="1"/>
          <p:nvPr/>
        </p:nvSpPr>
        <p:spPr>
          <a:xfrm>
            <a:off x="5486400" y="3429000"/>
            <a:ext cx="2926080" cy="566928"/>
          </a:xfrm>
          <a:prstGeom prst="rect">
            <a:avLst/>
          </a:prstGeom>
          <a:noFill/>
          <a:ln/>
        </p:spPr>
        <p:txBody>
          <a:bodyPr wrap="square" lIns="0" tIns="0" rIns="0" bIns="0" rtlCol="0" anchor="ctr"/>
          <a:lstStyle/>
          <a:p>
            <a:pPr indent="0" marL="0">
              <a:buNone/>
            </a:pPr>
            <a:r>
              <a:rPr lang="en-US" sz="1300" dirty="0">
                <a:solidFill>
                  <a:srgbClr val="6B7280"/>
                </a:solidFill>
                <a:latin typeface="Calibri" pitchFamily="34" charset="0"/>
                <a:ea typeface="Calibri" pitchFamily="34" charset="-122"/>
                <a:cs typeface="Calibri" pitchFamily="34" charset="-120"/>
              </a:rPr>
              <a:t>[First teams]</a:t>
            </a:r>
            <a:endParaRPr lang="en-US" sz="1300" dirty="0"/>
          </a:p>
        </p:txBody>
      </p:sp>
      <p:sp>
        <p:nvSpPr>
          <p:cNvPr id="20" name="Text 18"/>
          <p:cNvSpPr txBox="1"/>
          <p:nvPr/>
        </p:nvSpPr>
        <p:spPr>
          <a:xfrm>
            <a:off x="548640" y="4206240"/>
            <a:ext cx="8046720" cy="365760"/>
          </a:xfrm>
          <a:prstGeom prst="rect">
            <a:avLst/>
          </a:prstGeom>
          <a:noFill/>
          <a:ln/>
        </p:spPr>
        <p:txBody>
          <a:bodyPr wrap="square" lIns="0" tIns="0" rIns="0" bIns="0" rtlCol="0" anchor="ctr"/>
          <a:lstStyle/>
          <a:p>
            <a:pPr indent="0" marL="0">
              <a:buNone/>
            </a:pPr>
            <a:r>
              <a:rPr lang="en-US" sz="1600" i="1" dirty="0">
                <a:solidFill>
                  <a:srgbClr val="1F5FBF"/>
                </a:solidFill>
                <a:latin typeface="Calibri" pitchFamily="34" charset="0"/>
                <a:ea typeface="Calibri" pitchFamily="34" charset="-122"/>
                <a:cs typeface="Calibri" pitchFamily="34" charset="-120"/>
              </a:rPr>
              <a:t>Anything that would stop us starting on [date]?</a:t>
            </a:r>
            <a:endParaRPr lang="en-US" sz="1600" dirty="0"/>
          </a:p>
        </p:txBody>
      </p:sp>
      <p:sp>
        <p:nvSpPr>
          <p:cNvPr id="25" name="Slide Number Placeholder 0"/>
          <p:cNvSpPr>
            <a:spLocks noGrp="1"/>
          </p:cNvSpPr>
          <p:nvPr>
            <p:ph type="sldNum" sz="quarter" idx="4294967295"/>
          </p:nvPr>
        </p:nvSpPr>
        <p:spPr>
          <a:xfrm>
            <a:off x="8412480" y="4800600"/>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rgbClr val="6B7280"/>
                </a:solidFill>
              </a:defRPr>
            </a:lvl1pPr>
          </a:lstStyle>
          <a:p>
            <a:pPr algn="l"/>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show="0">
  <p:cSld name="Slide 7">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8046720" cy="731520"/>
          </a:xfrm>
          <a:prstGeom prst="rect">
            <a:avLst/>
          </a:prstGeom>
          <a:noFill/>
          <a:ln/>
        </p:spPr>
        <p:txBody>
          <a:bodyPr wrap="square" lIns="0" tIns="0" rIns="0" bIns="0" rtlCol="0" anchor="ctr"/>
          <a:lstStyle/>
          <a:p>
            <a:pPr algn="l" indent="0" marL="0">
              <a:buNone/>
            </a:pPr>
            <a:r>
              <a:rPr lang="en-US" sz="3000" b="1" dirty="0">
                <a:solidFill>
                  <a:srgbClr val="1F2933"/>
                </a:solidFill>
                <a:latin typeface="Calibri" pitchFamily="34" charset="0"/>
                <a:ea typeface="Calibri" pitchFamily="34" charset="-122"/>
                <a:cs typeface="Calibri" pitchFamily="34" charset="-120"/>
              </a:rPr>
              <a:t>Backup: assumptions I made, and why</a:t>
            </a:r>
            <a:endParaRPr lang="en-US" sz="3000" dirty="0"/>
          </a:p>
        </p:txBody>
      </p:sp>
      <p:graphicFrame>
        <p:nvGraphicFramePr>
          <p:cNvPr id="8" name="assume"/>
          <p:cNvGraphicFramePr>
            <a:graphicFrameLocks noGrp="1"/>
          </p:cNvGraphicFramePr>
          <p:nvPr>
            <p:extLst>
              <p:ext uri="{D42A27DB-BD31-4B8C-83A1-F6EECF244321}">
                <p14:modId xmlns:p14="http://schemas.microsoft.com/office/powerpoint/2010/main" val="1579011935"/>
              </p:ext>
            </p:extLst>
          </p:nvPr>
        </p:nvGraphicFramePr>
        <p:xfrm>
          <a:off x="548640" y="1280160"/>
          <a:ext cx="8046720" cy="914400"/>
        </p:xfrm>
        <a:graphic>
          <a:graphicData uri="http://schemas.openxmlformats.org/drawingml/2006/table">
            <a:tbl>
              <a:tblPr/>
              <a:tblGrid>
                <a:gridCol w="2926080"/>
                <a:gridCol w="2560320"/>
                <a:gridCol w="2560320"/>
              </a:tblGrid>
              <a:tr h="411480">
                <a:tc>
                  <a:txBody>
                    <a:bodyPr/>
                    <a:lstStyle/>
                    <a:p>
                      <a:pPr indent="0" marL="0">
                        <a:buNone/>
                      </a:pPr>
                      <a:r>
                        <a:rPr lang="en-US" sz="1300" b="1" dirty="0">
                          <a:solidFill>
                            <a:srgbClr val="FFFFFF"/>
                          </a:solidFill>
                        </a:rPr>
                        <a:t>Assumption</a:t>
                      </a:r>
                      <a:endParaRPr lang="en-US" sz="1300" dirty="0"/>
                    </a:p>
                  </a:txBody>
                  <a:tcPr marL="73152" marR="73152" marT="73152" marB="73152" anchor="ctr">
                    <a:lnL w="9525" cap="flat" cmpd="sng" algn="ctr">
                      <a:solidFill>
                        <a:srgbClr val="D9DCE1"/>
                      </a:solidFill>
                      <a:prstDash val="solid"/>
                      <a:round/>
                      <a:headEnd type="none" w="med" len="med"/>
                      <a:tailEnd type="none" w="med" len="med"/>
                    </a:lnL>
                    <a:lnR w="9525" cap="flat" cmpd="sng" algn="ctr">
                      <a:solidFill>
                        <a:srgbClr val="D9DCE1"/>
                      </a:solidFill>
                      <a:prstDash val="solid"/>
                      <a:round/>
                      <a:headEnd type="none" w="med" len="med"/>
                      <a:tailEnd type="none" w="med" len="med"/>
                    </a:lnR>
                    <a:lnT w="9525" cap="flat" cmpd="sng" algn="ctr">
                      <a:solidFill>
                        <a:srgbClr val="D9DCE1"/>
                      </a:solidFill>
                      <a:prstDash val="solid"/>
                      <a:round/>
                      <a:headEnd type="none" w="med" len="med"/>
                      <a:tailEnd type="none" w="med" len="med"/>
                    </a:lnT>
                    <a:lnB w="9525" cap="flat" cmpd="sng" algn="ctr">
                      <a:solidFill>
                        <a:srgbClr val="D9DCE1"/>
                      </a:solidFill>
                      <a:prstDash val="solid"/>
                      <a:round/>
                      <a:headEnd type="none" w="med" len="med"/>
                      <a:tailEnd type="none" w="med" len="med"/>
                    </a:lnB>
                    <a:solidFill>
                      <a:srgbClr val="1F5FBF"/>
                    </a:solidFill>
                  </a:tcPr>
                </a:tc>
                <a:tc>
                  <a:txBody>
                    <a:bodyPr/>
                    <a:lstStyle/>
                    <a:p>
                      <a:pPr indent="0" marL="0">
                        <a:buNone/>
                      </a:pPr>
                      <a:r>
                        <a:rPr lang="en-US" sz="1300" b="1" dirty="0">
                          <a:solidFill>
                            <a:srgbClr val="FFFFFF"/>
                          </a:solidFill>
                        </a:rPr>
                        <a:t>Why it is reasonable</a:t>
                      </a:r>
                      <a:endParaRPr lang="en-US" sz="1300" dirty="0"/>
                    </a:p>
                  </a:txBody>
                  <a:tcPr marL="73152" marR="73152" marT="73152" marB="73152" anchor="ctr">
                    <a:lnL w="9525" cap="flat" cmpd="sng" algn="ctr">
                      <a:solidFill>
                        <a:srgbClr val="D9DCE1"/>
                      </a:solidFill>
                      <a:prstDash val="solid"/>
                      <a:round/>
                      <a:headEnd type="none" w="med" len="med"/>
                      <a:tailEnd type="none" w="med" len="med"/>
                    </a:lnL>
                    <a:lnR w="9525" cap="flat" cmpd="sng" algn="ctr">
                      <a:solidFill>
                        <a:srgbClr val="D9DCE1"/>
                      </a:solidFill>
                      <a:prstDash val="solid"/>
                      <a:round/>
                      <a:headEnd type="none" w="med" len="med"/>
                      <a:tailEnd type="none" w="med" len="med"/>
                    </a:lnR>
                    <a:lnT w="9525" cap="flat" cmpd="sng" algn="ctr">
                      <a:solidFill>
                        <a:srgbClr val="D9DCE1"/>
                      </a:solidFill>
                      <a:prstDash val="solid"/>
                      <a:round/>
                      <a:headEnd type="none" w="med" len="med"/>
                      <a:tailEnd type="none" w="med" len="med"/>
                    </a:lnT>
                    <a:lnB w="9525" cap="flat" cmpd="sng" algn="ctr">
                      <a:solidFill>
                        <a:srgbClr val="D9DCE1"/>
                      </a:solidFill>
                      <a:prstDash val="solid"/>
                      <a:round/>
                      <a:headEnd type="none" w="med" len="med"/>
                      <a:tailEnd type="none" w="med" len="med"/>
                    </a:lnB>
                    <a:solidFill>
                      <a:srgbClr val="1F5FBF"/>
                    </a:solidFill>
                  </a:tcPr>
                </a:tc>
                <a:tc>
                  <a:txBody>
                    <a:bodyPr/>
                    <a:lstStyle/>
                    <a:p>
                      <a:pPr indent="0" marL="0">
                        <a:buNone/>
                      </a:pPr>
                      <a:r>
                        <a:rPr lang="en-US" sz="1300" b="1" dirty="0">
                          <a:solidFill>
                            <a:srgbClr val="FFFFFF"/>
                          </a:solidFill>
                        </a:rPr>
                        <a:t>What changes if wrong</a:t>
                      </a:r>
                      <a:endParaRPr lang="en-US" sz="1300" dirty="0"/>
                    </a:p>
                  </a:txBody>
                  <a:tcPr marL="73152" marR="73152" marT="73152" marB="73152" anchor="ctr">
                    <a:lnL w="9525" cap="flat" cmpd="sng" algn="ctr">
                      <a:solidFill>
                        <a:srgbClr val="D9DCE1"/>
                      </a:solidFill>
                      <a:prstDash val="solid"/>
                      <a:round/>
                      <a:headEnd type="none" w="med" len="med"/>
                      <a:tailEnd type="none" w="med" len="med"/>
                    </a:lnL>
                    <a:lnR w="9525" cap="flat" cmpd="sng" algn="ctr">
                      <a:solidFill>
                        <a:srgbClr val="D9DCE1"/>
                      </a:solidFill>
                      <a:prstDash val="solid"/>
                      <a:round/>
                      <a:headEnd type="none" w="med" len="med"/>
                      <a:tailEnd type="none" w="med" len="med"/>
                    </a:lnR>
                    <a:lnT w="9525" cap="flat" cmpd="sng" algn="ctr">
                      <a:solidFill>
                        <a:srgbClr val="D9DCE1"/>
                      </a:solidFill>
                      <a:prstDash val="solid"/>
                      <a:round/>
                      <a:headEnd type="none" w="med" len="med"/>
                      <a:tailEnd type="none" w="med" len="med"/>
                    </a:lnT>
                    <a:lnB w="9525" cap="flat" cmpd="sng" algn="ctr">
                      <a:solidFill>
                        <a:srgbClr val="D9DCE1"/>
                      </a:solidFill>
                      <a:prstDash val="solid"/>
                      <a:round/>
                      <a:headEnd type="none" w="med" len="med"/>
                      <a:tailEnd type="none" w="med" len="med"/>
                    </a:lnB>
                    <a:solidFill>
                      <a:srgbClr val="1F5FBF"/>
                    </a:solidFill>
                  </a:tcPr>
                </a:tc>
              </a:tr>
              <a:tr h="640080">
                <a:tc>
                  <a:txBody>
                    <a:bodyPr/>
                    <a:lstStyle/>
                    <a:p>
                      <a:pPr indent="0" marL="0">
                        <a:buNone/>
                      </a:pPr>
                      <a:r>
                        <a:rPr lang="en-US" sz="1300" dirty="0">
                          <a:solidFill>
                            <a:srgbClr val="1F2933"/>
                          </a:solidFill>
                        </a:rPr>
                        <a:t>[Source systems land files in cloud storage]</a:t>
                      </a:r>
                      <a:endParaRPr lang="en-US" sz="1300" dirty="0"/>
                    </a:p>
                  </a:txBody>
                  <a:tcPr marL="73152" marR="73152" marT="73152" marB="73152" anchor="ctr">
                    <a:lnL w="9525" cap="flat" cmpd="sng" algn="ctr">
                      <a:solidFill>
                        <a:srgbClr val="D9DCE1"/>
                      </a:solidFill>
                      <a:prstDash val="solid"/>
                      <a:round/>
                      <a:headEnd type="none" w="med" len="med"/>
                      <a:tailEnd type="none" w="med" len="med"/>
                    </a:lnL>
                    <a:lnR w="9525" cap="flat" cmpd="sng" algn="ctr">
                      <a:solidFill>
                        <a:srgbClr val="D9DCE1"/>
                      </a:solidFill>
                      <a:prstDash val="solid"/>
                      <a:round/>
                      <a:headEnd type="none" w="med" len="med"/>
                      <a:tailEnd type="none" w="med" len="med"/>
                    </a:lnR>
                    <a:lnT w="9525" cap="flat" cmpd="sng" algn="ctr">
                      <a:solidFill>
                        <a:srgbClr val="D9DCE1"/>
                      </a:solidFill>
                      <a:prstDash val="solid"/>
                      <a:round/>
                      <a:headEnd type="none" w="med" len="med"/>
                      <a:tailEnd type="none" w="med" len="med"/>
                    </a:lnT>
                    <a:lnB w="9525" cap="flat" cmpd="sng" algn="ctr">
                      <a:solidFill>
                        <a:srgbClr val="D9DCE1"/>
                      </a:solidFill>
                      <a:prstDash val="solid"/>
                      <a:round/>
                      <a:headEnd type="none" w="med" len="med"/>
                      <a:tailEnd type="none" w="med" len="med"/>
                    </a:lnB>
                    <a:solidFill>
                      <a:srgbClr val="FFFFFF"/>
                    </a:solidFill>
                  </a:tcPr>
                </a:tc>
                <a:tc>
                  <a:txBody>
                    <a:bodyPr/>
                    <a:lstStyle/>
                    <a:p>
                      <a:pPr indent="0" marL="0">
                        <a:buNone/>
                      </a:pPr>
                      <a:r>
                        <a:rPr lang="en-US" sz="1300" dirty="0">
                          <a:solidFill>
                            <a:srgbClr val="1F2933"/>
                          </a:solidFill>
                        </a:rPr>
                        <a:t>[Common pattern]</a:t>
                      </a:r>
                      <a:endParaRPr lang="en-US" sz="1300" dirty="0"/>
                    </a:p>
                  </a:txBody>
                  <a:tcPr marL="73152" marR="73152" marT="73152" marB="73152" anchor="ctr">
                    <a:lnL w="9525" cap="flat" cmpd="sng" algn="ctr">
                      <a:solidFill>
                        <a:srgbClr val="D9DCE1"/>
                      </a:solidFill>
                      <a:prstDash val="solid"/>
                      <a:round/>
                      <a:headEnd type="none" w="med" len="med"/>
                      <a:tailEnd type="none" w="med" len="med"/>
                    </a:lnL>
                    <a:lnR w="9525" cap="flat" cmpd="sng" algn="ctr">
                      <a:solidFill>
                        <a:srgbClr val="D9DCE1"/>
                      </a:solidFill>
                      <a:prstDash val="solid"/>
                      <a:round/>
                      <a:headEnd type="none" w="med" len="med"/>
                      <a:tailEnd type="none" w="med" len="med"/>
                    </a:lnR>
                    <a:lnT w="9525" cap="flat" cmpd="sng" algn="ctr">
                      <a:solidFill>
                        <a:srgbClr val="D9DCE1"/>
                      </a:solidFill>
                      <a:prstDash val="solid"/>
                      <a:round/>
                      <a:headEnd type="none" w="med" len="med"/>
                      <a:tailEnd type="none" w="med" len="med"/>
                    </a:lnT>
                    <a:lnB w="9525" cap="flat" cmpd="sng" algn="ctr">
                      <a:solidFill>
                        <a:srgbClr val="D9DCE1"/>
                      </a:solidFill>
                      <a:prstDash val="solid"/>
                      <a:round/>
                      <a:headEnd type="none" w="med" len="med"/>
                      <a:tailEnd type="none" w="med" len="med"/>
                    </a:lnB>
                    <a:solidFill>
                      <a:srgbClr val="FFFFFF"/>
                    </a:solidFill>
                  </a:tcPr>
                </a:tc>
                <a:tc>
                  <a:txBody>
                    <a:bodyPr/>
                    <a:lstStyle/>
                    <a:p>
                      <a:pPr indent="0" marL="0">
                        <a:buNone/>
                      </a:pPr>
                      <a:r>
                        <a:rPr lang="en-US" sz="1300" dirty="0">
                          <a:solidFill>
                            <a:srgbClr val="1F2933"/>
                          </a:solidFill>
                        </a:rPr>
                        <a:t>[Add a connector, same design]</a:t>
                      </a:r>
                      <a:endParaRPr lang="en-US" sz="1300" dirty="0"/>
                    </a:p>
                  </a:txBody>
                  <a:tcPr marL="73152" marR="73152" marT="73152" marB="73152" anchor="ctr">
                    <a:lnL w="9525" cap="flat" cmpd="sng" algn="ctr">
                      <a:solidFill>
                        <a:srgbClr val="D9DCE1"/>
                      </a:solidFill>
                      <a:prstDash val="solid"/>
                      <a:round/>
                      <a:headEnd type="none" w="med" len="med"/>
                      <a:tailEnd type="none" w="med" len="med"/>
                    </a:lnL>
                    <a:lnR w="9525" cap="flat" cmpd="sng" algn="ctr">
                      <a:solidFill>
                        <a:srgbClr val="D9DCE1"/>
                      </a:solidFill>
                      <a:prstDash val="solid"/>
                      <a:round/>
                      <a:headEnd type="none" w="med" len="med"/>
                      <a:tailEnd type="none" w="med" len="med"/>
                    </a:lnR>
                    <a:lnT w="9525" cap="flat" cmpd="sng" algn="ctr">
                      <a:solidFill>
                        <a:srgbClr val="D9DCE1"/>
                      </a:solidFill>
                      <a:prstDash val="solid"/>
                      <a:round/>
                      <a:headEnd type="none" w="med" len="med"/>
                      <a:tailEnd type="none" w="med" len="med"/>
                    </a:lnT>
                    <a:lnB w="9525" cap="flat" cmpd="sng" algn="ctr">
                      <a:solidFill>
                        <a:srgbClr val="D9DCE1"/>
                      </a:solidFill>
                      <a:prstDash val="solid"/>
                      <a:round/>
                      <a:headEnd type="none" w="med" len="med"/>
                      <a:tailEnd type="none" w="med" len="med"/>
                    </a:lnB>
                    <a:solidFill>
                      <a:srgbClr val="FFFFFF"/>
                    </a:solidFill>
                  </a:tcPr>
                </a:tc>
              </a:tr>
              <a:tr h="640080">
                <a:tc>
                  <a:txBody>
                    <a:bodyPr/>
                    <a:lstStyle/>
                    <a:p>
                      <a:pPr indent="0" marL="0">
                        <a:buNone/>
                      </a:pPr>
                      <a:r>
                        <a:rPr lang="en-US" sz="1300" dirty="0">
                          <a:solidFill>
                            <a:srgbClr val="1F2933"/>
                          </a:solidFill>
                        </a:rPr>
                        <a:t>[SaaS data stands in as sample files]</a:t>
                      </a:r>
                      <a:endParaRPr lang="en-US" sz="1300" dirty="0"/>
                    </a:p>
                  </a:txBody>
                  <a:tcPr marL="73152" marR="73152" marT="73152" marB="73152" anchor="ctr">
                    <a:lnL w="9525" cap="flat" cmpd="sng" algn="ctr">
                      <a:solidFill>
                        <a:srgbClr val="D9DCE1"/>
                      </a:solidFill>
                      <a:prstDash val="solid"/>
                      <a:round/>
                      <a:headEnd type="none" w="med" len="med"/>
                      <a:tailEnd type="none" w="med" len="med"/>
                    </a:lnL>
                    <a:lnR w="9525" cap="flat" cmpd="sng" algn="ctr">
                      <a:solidFill>
                        <a:srgbClr val="D9DCE1"/>
                      </a:solidFill>
                      <a:prstDash val="solid"/>
                      <a:round/>
                      <a:headEnd type="none" w="med" len="med"/>
                      <a:tailEnd type="none" w="med" len="med"/>
                    </a:lnR>
                    <a:lnT w="9525" cap="flat" cmpd="sng" algn="ctr">
                      <a:solidFill>
                        <a:srgbClr val="D9DCE1"/>
                      </a:solidFill>
                      <a:prstDash val="solid"/>
                      <a:round/>
                      <a:headEnd type="none" w="med" len="med"/>
                      <a:tailEnd type="none" w="med" len="med"/>
                    </a:lnT>
                    <a:lnB w="9525" cap="flat" cmpd="sng" algn="ctr">
                      <a:solidFill>
                        <a:srgbClr val="D9DCE1"/>
                      </a:solidFill>
                      <a:prstDash val="solid"/>
                      <a:round/>
                      <a:headEnd type="none" w="med" len="med"/>
                      <a:tailEnd type="none" w="med" len="med"/>
                    </a:lnB>
                    <a:solidFill>
                      <a:srgbClr val="FFFFFF"/>
                    </a:solidFill>
                  </a:tcPr>
                </a:tc>
                <a:tc>
                  <a:txBody>
                    <a:bodyPr/>
                    <a:lstStyle/>
                    <a:p>
                      <a:pPr indent="0" marL="0">
                        <a:buNone/>
                      </a:pPr>
                      <a:r>
                        <a:rPr lang="en-US" sz="1300" dirty="0">
                          <a:solidFill>
                            <a:srgbClr val="1F2933"/>
                          </a:solidFill>
                        </a:rPr>
                        <a:t>[Placeholder for the real feed]</a:t>
                      </a:r>
                      <a:endParaRPr lang="en-US" sz="1300" dirty="0"/>
                    </a:p>
                  </a:txBody>
                  <a:tcPr marL="73152" marR="73152" marT="73152" marB="73152" anchor="ctr">
                    <a:lnL w="9525" cap="flat" cmpd="sng" algn="ctr">
                      <a:solidFill>
                        <a:srgbClr val="D9DCE1"/>
                      </a:solidFill>
                      <a:prstDash val="solid"/>
                      <a:round/>
                      <a:headEnd type="none" w="med" len="med"/>
                      <a:tailEnd type="none" w="med" len="med"/>
                    </a:lnL>
                    <a:lnR w="9525" cap="flat" cmpd="sng" algn="ctr">
                      <a:solidFill>
                        <a:srgbClr val="D9DCE1"/>
                      </a:solidFill>
                      <a:prstDash val="solid"/>
                      <a:round/>
                      <a:headEnd type="none" w="med" len="med"/>
                      <a:tailEnd type="none" w="med" len="med"/>
                    </a:lnR>
                    <a:lnT w="9525" cap="flat" cmpd="sng" algn="ctr">
                      <a:solidFill>
                        <a:srgbClr val="D9DCE1"/>
                      </a:solidFill>
                      <a:prstDash val="solid"/>
                      <a:round/>
                      <a:headEnd type="none" w="med" len="med"/>
                      <a:tailEnd type="none" w="med" len="med"/>
                    </a:lnT>
                    <a:lnB w="9525" cap="flat" cmpd="sng" algn="ctr">
                      <a:solidFill>
                        <a:srgbClr val="D9DCE1"/>
                      </a:solidFill>
                      <a:prstDash val="solid"/>
                      <a:round/>
                      <a:headEnd type="none" w="med" len="med"/>
                      <a:tailEnd type="none" w="med" len="med"/>
                    </a:lnB>
                    <a:solidFill>
                      <a:srgbClr val="FFFFFF"/>
                    </a:solidFill>
                  </a:tcPr>
                </a:tc>
                <a:tc>
                  <a:txBody>
                    <a:bodyPr/>
                    <a:lstStyle/>
                    <a:p>
                      <a:pPr indent="0" marL="0">
                        <a:buNone/>
                      </a:pPr>
                      <a:r>
                        <a:rPr lang="en-US" sz="1300" dirty="0">
                          <a:solidFill>
                            <a:srgbClr val="1F2933"/>
                          </a:solidFill>
                        </a:rPr>
                        <a:t>[Swap the source, nothing else]</a:t>
                      </a:r>
                      <a:endParaRPr lang="en-US" sz="1300" dirty="0"/>
                    </a:p>
                  </a:txBody>
                  <a:tcPr marL="73152" marR="73152" marT="73152" marB="73152" anchor="ctr">
                    <a:lnL w="9525" cap="flat" cmpd="sng" algn="ctr">
                      <a:solidFill>
                        <a:srgbClr val="D9DCE1"/>
                      </a:solidFill>
                      <a:prstDash val="solid"/>
                      <a:round/>
                      <a:headEnd type="none" w="med" len="med"/>
                      <a:tailEnd type="none" w="med" len="med"/>
                    </a:lnL>
                    <a:lnR w="9525" cap="flat" cmpd="sng" algn="ctr">
                      <a:solidFill>
                        <a:srgbClr val="D9DCE1"/>
                      </a:solidFill>
                      <a:prstDash val="solid"/>
                      <a:round/>
                      <a:headEnd type="none" w="med" len="med"/>
                      <a:tailEnd type="none" w="med" len="med"/>
                    </a:lnR>
                    <a:lnT w="9525" cap="flat" cmpd="sng" algn="ctr">
                      <a:solidFill>
                        <a:srgbClr val="D9DCE1"/>
                      </a:solidFill>
                      <a:prstDash val="solid"/>
                      <a:round/>
                      <a:headEnd type="none" w="med" len="med"/>
                      <a:tailEnd type="none" w="med" len="med"/>
                    </a:lnT>
                    <a:lnB w="9525" cap="flat" cmpd="sng" algn="ctr">
                      <a:solidFill>
                        <a:srgbClr val="D9DCE1"/>
                      </a:solidFill>
                      <a:prstDash val="solid"/>
                      <a:round/>
                      <a:headEnd type="none" w="med" len="med"/>
                      <a:tailEnd type="none" w="med" len="med"/>
                    </a:lnB>
                    <a:solidFill>
                      <a:srgbClr val="FFFFFF"/>
                    </a:solidFill>
                  </a:tcPr>
                </a:tc>
              </a:tr>
              <a:tr h="640080">
                <a:tc>
                  <a:txBody>
                    <a:bodyPr/>
                    <a:lstStyle/>
                    <a:p>
                      <a:pPr indent="0" marL="0">
                        <a:buNone/>
                      </a:pPr>
                      <a:r>
                        <a:rPr lang="en-US" sz="1300" dirty="0">
                          <a:solidFill>
                            <a:srgbClr val="1F2933"/>
                          </a:solidFill>
                        </a:rPr>
                        <a:t>[Dataset is synthetic, shaped like retail]</a:t>
                      </a:r>
                      <a:endParaRPr lang="en-US" sz="1300" dirty="0"/>
                    </a:p>
                  </a:txBody>
                  <a:tcPr marL="73152" marR="73152" marT="73152" marB="73152" anchor="ctr">
                    <a:lnL w="9525" cap="flat" cmpd="sng" algn="ctr">
                      <a:solidFill>
                        <a:srgbClr val="D9DCE1"/>
                      </a:solidFill>
                      <a:prstDash val="solid"/>
                      <a:round/>
                      <a:headEnd type="none" w="med" len="med"/>
                      <a:tailEnd type="none" w="med" len="med"/>
                    </a:lnL>
                    <a:lnR w="9525" cap="flat" cmpd="sng" algn="ctr">
                      <a:solidFill>
                        <a:srgbClr val="D9DCE1"/>
                      </a:solidFill>
                      <a:prstDash val="solid"/>
                      <a:round/>
                      <a:headEnd type="none" w="med" len="med"/>
                      <a:tailEnd type="none" w="med" len="med"/>
                    </a:lnR>
                    <a:lnT w="9525" cap="flat" cmpd="sng" algn="ctr">
                      <a:solidFill>
                        <a:srgbClr val="D9DCE1"/>
                      </a:solidFill>
                      <a:prstDash val="solid"/>
                      <a:round/>
                      <a:headEnd type="none" w="med" len="med"/>
                      <a:tailEnd type="none" w="med" len="med"/>
                    </a:lnT>
                    <a:lnB w="9525" cap="flat" cmpd="sng" algn="ctr">
                      <a:solidFill>
                        <a:srgbClr val="D9DCE1"/>
                      </a:solidFill>
                      <a:prstDash val="solid"/>
                      <a:round/>
                      <a:headEnd type="none" w="med" len="med"/>
                      <a:tailEnd type="none" w="med" len="med"/>
                    </a:lnB>
                    <a:solidFill>
                      <a:srgbClr val="FFFFFF"/>
                    </a:solidFill>
                  </a:tcPr>
                </a:tc>
                <a:tc>
                  <a:txBody>
                    <a:bodyPr/>
                    <a:lstStyle/>
                    <a:p>
                      <a:pPr indent="0" marL="0">
                        <a:buNone/>
                      </a:pPr>
                      <a:r>
                        <a:rPr lang="en-US" sz="1300" dirty="0">
                          <a:solidFill>
                            <a:srgbClr val="1F2933"/>
                          </a:solidFill>
                        </a:rPr>
                        <a:t>[No customer data used]</a:t>
                      </a:r>
                      <a:endParaRPr lang="en-US" sz="1300" dirty="0"/>
                    </a:p>
                  </a:txBody>
                  <a:tcPr marL="73152" marR="73152" marT="73152" marB="73152" anchor="ctr">
                    <a:lnL w="9525" cap="flat" cmpd="sng" algn="ctr">
                      <a:solidFill>
                        <a:srgbClr val="D9DCE1"/>
                      </a:solidFill>
                      <a:prstDash val="solid"/>
                      <a:round/>
                      <a:headEnd type="none" w="med" len="med"/>
                      <a:tailEnd type="none" w="med" len="med"/>
                    </a:lnL>
                    <a:lnR w="9525" cap="flat" cmpd="sng" algn="ctr">
                      <a:solidFill>
                        <a:srgbClr val="D9DCE1"/>
                      </a:solidFill>
                      <a:prstDash val="solid"/>
                      <a:round/>
                      <a:headEnd type="none" w="med" len="med"/>
                      <a:tailEnd type="none" w="med" len="med"/>
                    </a:lnR>
                    <a:lnT w="9525" cap="flat" cmpd="sng" algn="ctr">
                      <a:solidFill>
                        <a:srgbClr val="D9DCE1"/>
                      </a:solidFill>
                      <a:prstDash val="solid"/>
                      <a:round/>
                      <a:headEnd type="none" w="med" len="med"/>
                      <a:tailEnd type="none" w="med" len="med"/>
                    </a:lnT>
                    <a:lnB w="9525" cap="flat" cmpd="sng" algn="ctr">
                      <a:solidFill>
                        <a:srgbClr val="D9DCE1"/>
                      </a:solidFill>
                      <a:prstDash val="solid"/>
                      <a:round/>
                      <a:headEnd type="none" w="med" len="med"/>
                      <a:tailEnd type="none" w="med" len="med"/>
                    </a:lnB>
                    <a:solidFill>
                      <a:srgbClr val="FFFFFF"/>
                    </a:solidFill>
                  </a:tcPr>
                </a:tc>
                <a:tc>
                  <a:txBody>
                    <a:bodyPr/>
                    <a:lstStyle/>
                    <a:p>
                      <a:pPr indent="0" marL="0">
                        <a:buNone/>
                      </a:pPr>
                      <a:r>
                        <a:rPr lang="en-US" sz="1300" dirty="0">
                          <a:solidFill>
                            <a:srgbClr val="1F2933"/>
                          </a:solidFill>
                        </a:rPr>
                        <a:t>[Re-run on real data in the pilot]</a:t>
                      </a:r>
                      <a:endParaRPr lang="en-US" sz="1300" dirty="0"/>
                    </a:p>
                  </a:txBody>
                  <a:tcPr marL="73152" marR="73152" marT="73152" marB="73152" anchor="ctr">
                    <a:lnL w="9525" cap="flat" cmpd="sng" algn="ctr">
                      <a:solidFill>
                        <a:srgbClr val="D9DCE1"/>
                      </a:solidFill>
                      <a:prstDash val="solid"/>
                      <a:round/>
                      <a:headEnd type="none" w="med" len="med"/>
                      <a:tailEnd type="none" w="med" len="med"/>
                    </a:lnL>
                    <a:lnR w="9525" cap="flat" cmpd="sng" algn="ctr">
                      <a:solidFill>
                        <a:srgbClr val="D9DCE1"/>
                      </a:solidFill>
                      <a:prstDash val="solid"/>
                      <a:round/>
                      <a:headEnd type="none" w="med" len="med"/>
                      <a:tailEnd type="none" w="med" len="med"/>
                    </a:lnR>
                    <a:lnT w="9525" cap="flat" cmpd="sng" algn="ctr">
                      <a:solidFill>
                        <a:srgbClr val="D9DCE1"/>
                      </a:solidFill>
                      <a:prstDash val="solid"/>
                      <a:round/>
                      <a:headEnd type="none" w="med" len="med"/>
                      <a:tailEnd type="none" w="med" len="med"/>
                    </a:lnT>
                    <a:lnB w="9525" cap="flat" cmpd="sng" algn="ctr">
                      <a:solidFill>
                        <a:srgbClr val="D9DCE1"/>
                      </a:solidFill>
                      <a:prstDash val="solid"/>
                      <a:round/>
                      <a:headEnd type="none" w="med" len="med"/>
                      <a:tailEnd type="none" w="med" len="med"/>
                    </a:lnB>
                    <a:solidFill>
                      <a:srgbClr val="FFFFFF"/>
                    </a:solidFill>
                  </a:tcPr>
                </a:tc>
              </a:tr>
            </a:tbl>
          </a:graphicData>
        </a:graphic>
      </p:graphicFrame>
      <p:sp>
        <p:nvSpPr>
          <p:cNvPr id="25" name="Slide Number Placeholder 0"/>
          <p:cNvSpPr>
            <a:spLocks noGrp="1"/>
          </p:cNvSpPr>
          <p:nvPr>
            <p:ph type="sldNum" sz="quarter" idx="4294967295"/>
          </p:nvPr>
        </p:nvSpPr>
        <p:spPr>
          <a:xfrm>
            <a:off x="8412480" y="4800600"/>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rgbClr val="6B7280"/>
                </a:solidFill>
              </a:defRPr>
            </a:lvl1pPr>
          </a:lstStyle>
          <a:p>
            <a:pPr algn="l"/>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show="0">
  <p:cSld name="Slide 8">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8046720" cy="731520"/>
          </a:xfrm>
          <a:prstGeom prst="rect">
            <a:avLst/>
          </a:prstGeom>
          <a:noFill/>
          <a:ln/>
        </p:spPr>
        <p:txBody>
          <a:bodyPr wrap="square" lIns="0" tIns="0" rIns="0" bIns="0" rtlCol="0" anchor="ctr"/>
          <a:lstStyle/>
          <a:p>
            <a:pPr algn="l" indent="0" marL="0">
              <a:buNone/>
            </a:pPr>
            <a:r>
              <a:rPr lang="en-US" sz="3000" b="1" dirty="0">
                <a:solidFill>
                  <a:srgbClr val="1F2933"/>
                </a:solidFill>
                <a:latin typeface="Calibri" pitchFamily="34" charset="0"/>
                <a:ea typeface="Calibri" pitchFamily="34" charset="-122"/>
                <a:cs typeface="Calibri" pitchFamily="34" charset="-120"/>
              </a:rPr>
              <a:t>Backup: architecture detail</a:t>
            </a:r>
            <a:endParaRPr lang="en-US" sz="3000" dirty="0"/>
          </a:p>
        </p:txBody>
      </p:sp>
      <p:sp>
        <p:nvSpPr>
          <p:cNvPr id="3" name="ph"/>
          <p:cNvSpPr/>
          <p:nvPr/>
        </p:nvSpPr>
        <p:spPr>
          <a:xfrm>
            <a:off x="548640" y="1188720"/>
            <a:ext cx="8046720" cy="3383280"/>
          </a:xfrm>
          <a:prstGeom prst="rect">
            <a:avLst/>
          </a:prstGeom>
          <a:solidFill>
            <a:srgbClr val="FFFFFF"/>
          </a:solidFill>
          <a:ln w="12700">
            <a:solidFill>
              <a:srgbClr val="6B7280"/>
            </a:solidFill>
            <a:prstDash val="dash"/>
          </a:ln>
        </p:spPr>
      </p:sp>
      <p:sp>
        <p:nvSpPr>
          <p:cNvPr id="4" name="Text 2"/>
          <p:cNvSpPr txBox="1"/>
          <p:nvPr/>
        </p:nvSpPr>
        <p:spPr>
          <a:xfrm>
            <a:off x="548640" y="1188720"/>
            <a:ext cx="8046720" cy="3383280"/>
          </a:xfrm>
          <a:prstGeom prst="rect">
            <a:avLst/>
          </a:prstGeom>
          <a:noFill/>
          <a:ln/>
        </p:spPr>
        <p:txBody>
          <a:bodyPr wrap="square" lIns="0" tIns="0" rIns="0" bIns="0" rtlCol="0" anchor="ctr"/>
          <a:lstStyle/>
          <a:p>
            <a:pPr algn="ctr" indent="0" marL="0">
              <a:buNone/>
            </a:pPr>
            <a:r>
              <a:rPr lang="en-US" sz="1600" dirty="0">
                <a:solidFill>
                  <a:srgbClr val="6B7280"/>
                </a:solidFill>
                <a:latin typeface="Calibri" pitchFamily="34" charset="0"/>
                <a:ea typeface="Calibri" pitchFamily="34" charset="-122"/>
                <a:cs typeface="Calibri" pitchFamily="34" charset="-120"/>
              </a:rPr>
              <a:t>[Insert architecture diagram image]</a:t>
            </a:r>
            <a:endParaRPr lang="en-US" sz="1600" dirty="0"/>
          </a:p>
        </p:txBody>
      </p:sp>
      <p:sp>
        <p:nvSpPr>
          <p:cNvPr id="25" name="Slide Number Placeholder 0"/>
          <p:cNvSpPr>
            <a:spLocks noGrp="1"/>
          </p:cNvSpPr>
          <p:nvPr>
            <p:ph type="sldNum" sz="quarter" idx="4294967295"/>
          </p:nvPr>
        </p:nvSpPr>
        <p:spPr>
          <a:xfrm>
            <a:off x="8412480" y="4800600"/>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rgbClr val="6B7280"/>
                </a:solidFill>
              </a:defRPr>
            </a:lvl1pPr>
          </a:lstStyle>
          <a:p>
            <a:pPr algn="l"/>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show="0">
  <p:cSld name="Slide 9">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8046720" cy="731520"/>
          </a:xfrm>
          <a:prstGeom prst="rect">
            <a:avLst/>
          </a:prstGeom>
          <a:noFill/>
          <a:ln/>
        </p:spPr>
        <p:txBody>
          <a:bodyPr wrap="square" lIns="0" tIns="0" rIns="0" bIns="0" rtlCol="0" anchor="ctr"/>
          <a:lstStyle/>
          <a:p>
            <a:pPr algn="l" indent="0" marL="0">
              <a:buNone/>
            </a:pPr>
            <a:r>
              <a:rPr lang="en-US" sz="3000" b="1" dirty="0">
                <a:solidFill>
                  <a:srgbClr val="1F2933"/>
                </a:solidFill>
                <a:latin typeface="Calibri" pitchFamily="34" charset="0"/>
                <a:ea typeface="Calibri" pitchFamily="34" charset="-122"/>
                <a:cs typeface="Calibri" pitchFamily="34" charset="-120"/>
              </a:rPr>
              <a:t>Backup: data model</a:t>
            </a:r>
            <a:endParaRPr lang="en-US" sz="3000" dirty="0"/>
          </a:p>
        </p:txBody>
      </p:sp>
      <p:sp>
        <p:nvSpPr>
          <p:cNvPr id="3" name="ph"/>
          <p:cNvSpPr/>
          <p:nvPr/>
        </p:nvSpPr>
        <p:spPr>
          <a:xfrm>
            <a:off x="548640" y="1188720"/>
            <a:ext cx="8046720" cy="3383280"/>
          </a:xfrm>
          <a:prstGeom prst="rect">
            <a:avLst/>
          </a:prstGeom>
          <a:solidFill>
            <a:srgbClr val="FFFFFF"/>
          </a:solidFill>
          <a:ln w="12700">
            <a:solidFill>
              <a:srgbClr val="6B7280"/>
            </a:solidFill>
            <a:prstDash val="dash"/>
          </a:ln>
        </p:spPr>
      </p:sp>
      <p:sp>
        <p:nvSpPr>
          <p:cNvPr id="4" name="Text 2"/>
          <p:cNvSpPr txBox="1"/>
          <p:nvPr/>
        </p:nvSpPr>
        <p:spPr>
          <a:xfrm>
            <a:off x="548640" y="1188720"/>
            <a:ext cx="8046720" cy="3383280"/>
          </a:xfrm>
          <a:prstGeom prst="rect">
            <a:avLst/>
          </a:prstGeom>
          <a:noFill/>
          <a:ln/>
        </p:spPr>
        <p:txBody>
          <a:bodyPr wrap="square" lIns="0" tIns="0" rIns="0" bIns="0" rtlCol="0" anchor="ctr"/>
          <a:lstStyle/>
          <a:p>
            <a:pPr algn="ctr" indent="0" marL="0">
              <a:buNone/>
            </a:pPr>
            <a:r>
              <a:rPr lang="en-US" sz="1600" dirty="0">
                <a:solidFill>
                  <a:srgbClr val="6B7280"/>
                </a:solidFill>
                <a:latin typeface="Calibri" pitchFamily="34" charset="0"/>
                <a:ea typeface="Calibri" pitchFamily="34" charset="-122"/>
                <a:cs typeface="Calibri" pitchFamily="34" charset="-120"/>
              </a:rPr>
              <a:t>[Insert data model image]</a:t>
            </a:r>
            <a:endParaRPr lang="en-US" sz="1600" dirty="0"/>
          </a:p>
        </p:txBody>
      </p:sp>
      <p:sp>
        <p:nvSpPr>
          <p:cNvPr id="25" name="Slide Number Placeholder 0"/>
          <p:cNvSpPr>
            <a:spLocks noGrp="1"/>
          </p:cNvSpPr>
          <p:nvPr>
            <p:ph type="sldNum" sz="quarter" idx="4294967295"/>
          </p:nvPr>
        </p:nvSpPr>
        <p:spPr>
          <a:xfrm>
            <a:off x="8412480" y="4800600"/>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rgbClr val="6B7280"/>
                </a:solidFill>
              </a:defRPr>
            </a:lvl1pPr>
          </a:lstStyle>
          <a:p>
            <a:pPr algn="l"/>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show="0">
  <p:cSld name="Slide 10">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8046720" cy="731520"/>
          </a:xfrm>
          <a:prstGeom prst="rect">
            <a:avLst/>
          </a:prstGeom>
          <a:noFill/>
          <a:ln/>
        </p:spPr>
        <p:txBody>
          <a:bodyPr wrap="square" lIns="0" tIns="0" rIns="0" bIns="0" rtlCol="0" anchor="ctr"/>
          <a:lstStyle/>
          <a:p>
            <a:pPr algn="l" indent="0" marL="0">
              <a:buNone/>
            </a:pPr>
            <a:r>
              <a:rPr lang="en-US" sz="3000" b="1" dirty="0">
                <a:solidFill>
                  <a:srgbClr val="1F2933"/>
                </a:solidFill>
                <a:latin typeface="Calibri" pitchFamily="34" charset="0"/>
                <a:ea typeface="Calibri" pitchFamily="34" charset="-122"/>
                <a:cs typeface="Calibri" pitchFamily="34" charset="-120"/>
              </a:rPr>
              <a:t>Backup: screenshot 1</a:t>
            </a:r>
            <a:endParaRPr lang="en-US" sz="3000" dirty="0"/>
          </a:p>
        </p:txBody>
      </p:sp>
      <p:sp>
        <p:nvSpPr>
          <p:cNvPr id="3" name="ph"/>
          <p:cNvSpPr/>
          <p:nvPr/>
        </p:nvSpPr>
        <p:spPr>
          <a:xfrm>
            <a:off x="548640" y="1188720"/>
            <a:ext cx="8046720" cy="3383280"/>
          </a:xfrm>
          <a:prstGeom prst="rect">
            <a:avLst/>
          </a:prstGeom>
          <a:solidFill>
            <a:srgbClr val="FFFFFF"/>
          </a:solidFill>
          <a:ln w="12700">
            <a:solidFill>
              <a:srgbClr val="6B7280"/>
            </a:solidFill>
            <a:prstDash val="dash"/>
          </a:ln>
        </p:spPr>
      </p:sp>
      <p:sp>
        <p:nvSpPr>
          <p:cNvPr id="4" name="Text 2"/>
          <p:cNvSpPr txBox="1"/>
          <p:nvPr/>
        </p:nvSpPr>
        <p:spPr>
          <a:xfrm>
            <a:off x="548640" y="1188720"/>
            <a:ext cx="8046720" cy="3383280"/>
          </a:xfrm>
          <a:prstGeom prst="rect">
            <a:avLst/>
          </a:prstGeom>
          <a:noFill/>
          <a:ln/>
        </p:spPr>
        <p:txBody>
          <a:bodyPr wrap="square" lIns="0" tIns="0" rIns="0" bIns="0" rtlCol="0" anchor="ctr"/>
          <a:lstStyle/>
          <a:p>
            <a:pPr algn="ctr" indent="0" marL="0">
              <a:buNone/>
            </a:pPr>
            <a:r>
              <a:rPr lang="en-US" sz="1600" dirty="0">
                <a:solidFill>
                  <a:srgbClr val="6B7280"/>
                </a:solidFill>
                <a:latin typeface="Calibri" pitchFamily="34" charset="0"/>
                <a:ea typeface="Calibri" pitchFamily="34" charset="-122"/>
                <a:cs typeface="Calibri" pitchFamily="34" charset="-120"/>
              </a:rPr>
              <a:t>[Insert screenshot 1: see the screenshots checklist]</a:t>
            </a:r>
            <a:endParaRPr lang="en-US" sz="1600" dirty="0"/>
          </a:p>
        </p:txBody>
      </p:sp>
      <p:sp>
        <p:nvSpPr>
          <p:cNvPr id="25" name="Slide Number Placeholder 0"/>
          <p:cNvSpPr>
            <a:spLocks noGrp="1"/>
          </p:cNvSpPr>
          <p:nvPr>
            <p:ph type="sldNum" sz="quarter" idx="4294967295"/>
          </p:nvPr>
        </p:nvSpPr>
        <p:spPr>
          <a:xfrm>
            <a:off x="8412480" y="4800600"/>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rgbClr val="6B7280"/>
                </a:solidFill>
              </a:defRPr>
            </a:lvl1pPr>
          </a:lstStyle>
          <a:p>
            <a:pPr algn="l"/>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show="0">
  <p:cSld name="Slide 11">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8046720" cy="731520"/>
          </a:xfrm>
          <a:prstGeom prst="rect">
            <a:avLst/>
          </a:prstGeom>
          <a:noFill/>
          <a:ln/>
        </p:spPr>
        <p:txBody>
          <a:bodyPr wrap="square" lIns="0" tIns="0" rIns="0" bIns="0" rtlCol="0" anchor="ctr"/>
          <a:lstStyle/>
          <a:p>
            <a:pPr algn="l" indent="0" marL="0">
              <a:buNone/>
            </a:pPr>
            <a:r>
              <a:rPr lang="en-US" sz="3000" b="1" dirty="0">
                <a:solidFill>
                  <a:srgbClr val="1F2933"/>
                </a:solidFill>
                <a:latin typeface="Calibri" pitchFamily="34" charset="0"/>
                <a:ea typeface="Calibri" pitchFamily="34" charset="-122"/>
                <a:cs typeface="Calibri" pitchFamily="34" charset="-120"/>
              </a:rPr>
              <a:t>Backup: screenshot 2</a:t>
            </a:r>
            <a:endParaRPr lang="en-US" sz="3000" dirty="0"/>
          </a:p>
        </p:txBody>
      </p:sp>
      <p:sp>
        <p:nvSpPr>
          <p:cNvPr id="3" name="ph"/>
          <p:cNvSpPr/>
          <p:nvPr/>
        </p:nvSpPr>
        <p:spPr>
          <a:xfrm>
            <a:off x="548640" y="1188720"/>
            <a:ext cx="8046720" cy="3383280"/>
          </a:xfrm>
          <a:prstGeom prst="rect">
            <a:avLst/>
          </a:prstGeom>
          <a:solidFill>
            <a:srgbClr val="FFFFFF"/>
          </a:solidFill>
          <a:ln w="12700">
            <a:solidFill>
              <a:srgbClr val="6B7280"/>
            </a:solidFill>
            <a:prstDash val="dash"/>
          </a:ln>
        </p:spPr>
      </p:sp>
      <p:sp>
        <p:nvSpPr>
          <p:cNvPr id="4" name="Text 2"/>
          <p:cNvSpPr txBox="1"/>
          <p:nvPr/>
        </p:nvSpPr>
        <p:spPr>
          <a:xfrm>
            <a:off x="548640" y="1188720"/>
            <a:ext cx="8046720" cy="3383280"/>
          </a:xfrm>
          <a:prstGeom prst="rect">
            <a:avLst/>
          </a:prstGeom>
          <a:noFill/>
          <a:ln/>
        </p:spPr>
        <p:txBody>
          <a:bodyPr wrap="square" lIns="0" tIns="0" rIns="0" bIns="0" rtlCol="0" anchor="ctr"/>
          <a:lstStyle/>
          <a:p>
            <a:pPr algn="ctr" indent="0" marL="0">
              <a:buNone/>
            </a:pPr>
            <a:r>
              <a:rPr lang="en-US" sz="1600" dirty="0">
                <a:solidFill>
                  <a:srgbClr val="6B7280"/>
                </a:solidFill>
                <a:latin typeface="Calibri" pitchFamily="34" charset="0"/>
                <a:ea typeface="Calibri" pitchFamily="34" charset="-122"/>
                <a:cs typeface="Calibri" pitchFamily="34" charset="-120"/>
              </a:rPr>
              <a:t>[Insert screenshot 2: see the screenshots checklist]</a:t>
            </a:r>
            <a:endParaRPr lang="en-US" sz="1600" dirty="0"/>
          </a:p>
        </p:txBody>
      </p:sp>
      <p:sp>
        <p:nvSpPr>
          <p:cNvPr id="25" name="Slide Number Placeholder 0"/>
          <p:cNvSpPr>
            <a:spLocks noGrp="1"/>
          </p:cNvSpPr>
          <p:nvPr>
            <p:ph type="sldNum" sz="quarter" idx="4294967295"/>
          </p:nvPr>
        </p:nvSpPr>
        <p:spPr>
          <a:xfrm>
            <a:off x="8412480" y="4800600"/>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rgbClr val="6B7280"/>
                </a:solidFill>
              </a:defRPr>
            </a:lvl1pPr>
          </a:lstStyle>
          <a:p>
            <a:pPr algn="l"/>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show="0">
  <p:cSld name="Slide 12">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8046720" cy="731520"/>
          </a:xfrm>
          <a:prstGeom prst="rect">
            <a:avLst/>
          </a:prstGeom>
          <a:noFill/>
          <a:ln/>
        </p:spPr>
        <p:txBody>
          <a:bodyPr wrap="square" lIns="0" tIns="0" rIns="0" bIns="0" rtlCol="0" anchor="ctr"/>
          <a:lstStyle/>
          <a:p>
            <a:pPr algn="l" indent="0" marL="0">
              <a:buNone/>
            </a:pPr>
            <a:r>
              <a:rPr lang="en-US" sz="3000" b="1" dirty="0">
                <a:solidFill>
                  <a:srgbClr val="1F2933"/>
                </a:solidFill>
                <a:latin typeface="Calibri" pitchFamily="34" charset="0"/>
                <a:ea typeface="Calibri" pitchFamily="34" charset="-122"/>
                <a:cs typeface="Calibri" pitchFamily="34" charset="-120"/>
              </a:rPr>
              <a:t>Backup: screenshot 3</a:t>
            </a:r>
            <a:endParaRPr lang="en-US" sz="3000" dirty="0"/>
          </a:p>
        </p:txBody>
      </p:sp>
      <p:sp>
        <p:nvSpPr>
          <p:cNvPr id="3" name="ph"/>
          <p:cNvSpPr/>
          <p:nvPr/>
        </p:nvSpPr>
        <p:spPr>
          <a:xfrm>
            <a:off x="548640" y="1188720"/>
            <a:ext cx="8046720" cy="3383280"/>
          </a:xfrm>
          <a:prstGeom prst="rect">
            <a:avLst/>
          </a:prstGeom>
          <a:solidFill>
            <a:srgbClr val="FFFFFF"/>
          </a:solidFill>
          <a:ln w="12700">
            <a:solidFill>
              <a:srgbClr val="6B7280"/>
            </a:solidFill>
            <a:prstDash val="dash"/>
          </a:ln>
        </p:spPr>
      </p:sp>
      <p:sp>
        <p:nvSpPr>
          <p:cNvPr id="4" name="Text 2"/>
          <p:cNvSpPr txBox="1"/>
          <p:nvPr/>
        </p:nvSpPr>
        <p:spPr>
          <a:xfrm>
            <a:off x="548640" y="1188720"/>
            <a:ext cx="8046720" cy="3383280"/>
          </a:xfrm>
          <a:prstGeom prst="rect">
            <a:avLst/>
          </a:prstGeom>
          <a:noFill/>
          <a:ln/>
        </p:spPr>
        <p:txBody>
          <a:bodyPr wrap="square" lIns="0" tIns="0" rIns="0" bIns="0" rtlCol="0" anchor="ctr"/>
          <a:lstStyle/>
          <a:p>
            <a:pPr algn="ctr" indent="0" marL="0">
              <a:buNone/>
            </a:pPr>
            <a:r>
              <a:rPr lang="en-US" sz="1600" dirty="0">
                <a:solidFill>
                  <a:srgbClr val="6B7280"/>
                </a:solidFill>
                <a:latin typeface="Calibri" pitchFamily="34" charset="0"/>
                <a:ea typeface="Calibri" pitchFamily="34" charset="-122"/>
                <a:cs typeface="Calibri" pitchFamily="34" charset="-120"/>
              </a:rPr>
              <a:t>[Insert screenshot 3: see the screenshots checklist]</a:t>
            </a:r>
            <a:endParaRPr lang="en-US" sz="1600" dirty="0"/>
          </a:p>
        </p:txBody>
      </p:sp>
      <p:sp>
        <p:nvSpPr>
          <p:cNvPr id="25" name="Slide Number Placeholder 0"/>
          <p:cNvSpPr>
            <a:spLocks noGrp="1"/>
          </p:cNvSpPr>
          <p:nvPr>
            <p:ph type="sldNum" sz="quarter" idx="4294967295"/>
          </p:nvPr>
        </p:nvSpPr>
        <p:spPr>
          <a:xfrm>
            <a:off x="8412480" y="4800600"/>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rgbClr val="6B7280"/>
                </a:solidFill>
              </a:defRPr>
            </a:lvl1pPr>
          </a:lstStyle>
          <a:p>
            <a:pPr algn="l"/>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show="0">
  <p:cSld name="Slide 13">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8046720" cy="731520"/>
          </a:xfrm>
          <a:prstGeom prst="rect">
            <a:avLst/>
          </a:prstGeom>
          <a:noFill/>
          <a:ln/>
        </p:spPr>
        <p:txBody>
          <a:bodyPr wrap="square" lIns="0" tIns="0" rIns="0" bIns="0" rtlCol="0" anchor="ctr"/>
          <a:lstStyle/>
          <a:p>
            <a:pPr algn="l" indent="0" marL="0">
              <a:buNone/>
            </a:pPr>
            <a:r>
              <a:rPr lang="en-US" sz="3000" b="1" dirty="0">
                <a:solidFill>
                  <a:srgbClr val="1F2933"/>
                </a:solidFill>
                <a:latin typeface="Calibri" pitchFamily="34" charset="0"/>
                <a:ea typeface="Calibri" pitchFamily="34" charset="-122"/>
                <a:cs typeface="Calibri" pitchFamily="34" charset="-120"/>
              </a:rPr>
              <a:t>Backup: screenshot 4</a:t>
            </a:r>
            <a:endParaRPr lang="en-US" sz="3000" dirty="0"/>
          </a:p>
        </p:txBody>
      </p:sp>
      <p:sp>
        <p:nvSpPr>
          <p:cNvPr id="3" name="ph"/>
          <p:cNvSpPr/>
          <p:nvPr/>
        </p:nvSpPr>
        <p:spPr>
          <a:xfrm>
            <a:off x="548640" y="1188720"/>
            <a:ext cx="8046720" cy="3383280"/>
          </a:xfrm>
          <a:prstGeom prst="rect">
            <a:avLst/>
          </a:prstGeom>
          <a:solidFill>
            <a:srgbClr val="FFFFFF"/>
          </a:solidFill>
          <a:ln w="12700">
            <a:solidFill>
              <a:srgbClr val="6B7280"/>
            </a:solidFill>
            <a:prstDash val="dash"/>
          </a:ln>
        </p:spPr>
      </p:sp>
      <p:sp>
        <p:nvSpPr>
          <p:cNvPr id="4" name="Text 2"/>
          <p:cNvSpPr txBox="1"/>
          <p:nvPr/>
        </p:nvSpPr>
        <p:spPr>
          <a:xfrm>
            <a:off x="548640" y="1188720"/>
            <a:ext cx="8046720" cy="3383280"/>
          </a:xfrm>
          <a:prstGeom prst="rect">
            <a:avLst/>
          </a:prstGeom>
          <a:noFill/>
          <a:ln/>
        </p:spPr>
        <p:txBody>
          <a:bodyPr wrap="square" lIns="0" tIns="0" rIns="0" bIns="0" rtlCol="0" anchor="ctr"/>
          <a:lstStyle/>
          <a:p>
            <a:pPr algn="ctr" indent="0" marL="0">
              <a:buNone/>
            </a:pPr>
            <a:r>
              <a:rPr lang="en-US" sz="1600" dirty="0">
                <a:solidFill>
                  <a:srgbClr val="6B7280"/>
                </a:solidFill>
                <a:latin typeface="Calibri" pitchFamily="34" charset="0"/>
                <a:ea typeface="Calibri" pitchFamily="34" charset="-122"/>
                <a:cs typeface="Calibri" pitchFamily="34" charset="-120"/>
              </a:rPr>
              <a:t>[Insert screenshot 4: see the screenshots checklist]</a:t>
            </a:r>
            <a:endParaRPr lang="en-US" sz="1600" dirty="0"/>
          </a:p>
        </p:txBody>
      </p:sp>
      <p:sp>
        <p:nvSpPr>
          <p:cNvPr id="25" name="Slide Number Placeholder 0"/>
          <p:cNvSpPr>
            <a:spLocks noGrp="1"/>
          </p:cNvSpPr>
          <p:nvPr>
            <p:ph type="sldNum" sz="quarter" idx="4294967295"/>
          </p:nvPr>
        </p:nvSpPr>
        <p:spPr>
          <a:xfrm>
            <a:off x="8412480" y="4800600"/>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rgbClr val="6B7280"/>
                </a:solidFill>
              </a:defRPr>
            </a:lvl1pPr>
          </a:lstStyle>
          <a:p>
            <a:pPr algn="l"/>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show="0">
  <p:cSld name="Slide 14">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8046720" cy="731520"/>
          </a:xfrm>
          <a:prstGeom prst="rect">
            <a:avLst/>
          </a:prstGeom>
          <a:noFill/>
          <a:ln/>
        </p:spPr>
        <p:txBody>
          <a:bodyPr wrap="square" lIns="0" tIns="0" rIns="0" bIns="0" rtlCol="0" anchor="ctr"/>
          <a:lstStyle/>
          <a:p>
            <a:pPr algn="l" indent="0" marL="0">
              <a:buNone/>
            </a:pPr>
            <a:r>
              <a:rPr lang="en-US" sz="3000" b="1" dirty="0">
                <a:solidFill>
                  <a:srgbClr val="1F2933"/>
                </a:solidFill>
                <a:latin typeface="Calibri" pitchFamily="34" charset="0"/>
                <a:ea typeface="Calibri" pitchFamily="34" charset="-122"/>
                <a:cs typeface="Calibri" pitchFamily="34" charset="-120"/>
              </a:rPr>
              <a:t>Backup: how this was built (for the debrief)</a:t>
            </a:r>
            <a:endParaRPr lang="en-US" sz="3000" dirty="0"/>
          </a:p>
        </p:txBody>
      </p:sp>
      <p:sp>
        <p:nvSpPr>
          <p:cNvPr id="3" name="ph"/>
          <p:cNvSpPr/>
          <p:nvPr/>
        </p:nvSpPr>
        <p:spPr>
          <a:xfrm>
            <a:off x="548640" y="1188720"/>
            <a:ext cx="8046720" cy="3383280"/>
          </a:xfrm>
          <a:prstGeom prst="rect">
            <a:avLst/>
          </a:prstGeom>
          <a:solidFill>
            <a:srgbClr val="FFFFFF"/>
          </a:solidFill>
          <a:ln w="12700">
            <a:solidFill>
              <a:srgbClr val="6B7280"/>
            </a:solidFill>
            <a:prstDash val="dash"/>
          </a:ln>
        </p:spPr>
      </p:sp>
      <p:sp>
        <p:nvSpPr>
          <p:cNvPr id="4" name="Text 2"/>
          <p:cNvSpPr txBox="1"/>
          <p:nvPr/>
        </p:nvSpPr>
        <p:spPr>
          <a:xfrm>
            <a:off x="548640" y="1188720"/>
            <a:ext cx="8046720" cy="3383280"/>
          </a:xfrm>
          <a:prstGeom prst="rect">
            <a:avLst/>
          </a:prstGeom>
          <a:noFill/>
          <a:ln/>
        </p:spPr>
        <p:txBody>
          <a:bodyPr wrap="square" lIns="0" tIns="0" rIns="0" bIns="0" rtlCol="0" anchor="ctr"/>
          <a:lstStyle/>
          <a:p>
            <a:pPr algn="ctr" indent="0" marL="0">
              <a:buNone/>
            </a:pPr>
            <a:r>
              <a:rPr lang="en-US" sz="1600" dirty="0">
                <a:solidFill>
                  <a:srgbClr val="6B7280"/>
                </a:solidFill>
                <a:latin typeface="Calibri" pitchFamily="34" charset="0"/>
                <a:ea typeface="Calibri" pitchFamily="34" charset="-122"/>
                <a:cs typeface="Calibri" pitchFamily="34" charset="-120"/>
              </a:rPr>
              <a:t>[Insert toolchain diagram: Claude Code, Databricks CLI, Databricks, Git]</a:t>
            </a:r>
            <a:endParaRPr lang="en-US" sz="1600" dirty="0"/>
          </a:p>
        </p:txBody>
      </p:sp>
      <p:sp>
        <p:nvSpPr>
          <p:cNvPr id="25" name="Slide Number Placeholder 0"/>
          <p:cNvSpPr>
            <a:spLocks noGrp="1"/>
          </p:cNvSpPr>
          <p:nvPr>
            <p:ph type="sldNum" sz="quarter" idx="4294967295"/>
          </p:nvPr>
        </p:nvSpPr>
        <p:spPr>
          <a:xfrm>
            <a:off x="8412480" y="4800600"/>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rgbClr val="6B7280"/>
                </a:solidFill>
              </a:defRPr>
            </a:lvl1pPr>
          </a:lstStyle>
          <a:p>
            <a:pPr algn="l"/>
            <a:fld id="{F7021451-1387-4CA6-816F-3879F97B5CBC}" type="slidenum">
              <a:rPr b="0" lang="en-US"/>
              <a:t>14</a:t>
            </a:fld>
            <a:endParaRPr lang="en-US"/>
          </a:p>
        </p:txBody>
      </p:sp>
    </p:spTree>
  </p:cSld>
  <p:clrMapOvr>
    <a:masterClrMapping/>
  </p:clrMapOvr>
</p:sld>
</file>

<file path=ppt/theme/theme1.xml><?xml version="1.0" encoding="utf-8"?>
<a:theme xmlns:a="http://schemas.openxmlformats.org/drawingml/2006/main" name="Presales White">
  <a:themeElements>
    <a:clrScheme name="Presales White">
      <a:dk1>
        <a:srgbClr val="1F2933"/>
      </a:dk1>
      <a:lt1>
        <a:srgbClr val="FFFFFF"/>
      </a:lt1>
      <a:dk2>
        <a:srgbClr val="1F2933"/>
      </a:dk2>
      <a:lt2>
        <a:srgbClr val="F5F6F8"/>
      </a:lt2>
      <a:accent1>
        <a:srgbClr val="1F5FBF"/>
      </a:accent1>
      <a:accent2>
        <a:srgbClr val="6B7280"/>
      </a:accent2>
      <a:accent3>
        <a:srgbClr val="1F5FBF"/>
      </a:accent3>
      <a:accent4>
        <a:srgbClr val="6B7280"/>
      </a:accent4>
      <a:accent5>
        <a:srgbClr val="1F5FBF"/>
      </a:accent5>
      <a:accent6>
        <a:srgbClr val="6B7280"/>
      </a:accent6>
      <a:hlink>
        <a:srgbClr val="1F5FBF"/>
      </a:hlink>
      <a:folHlink>
        <a:srgbClr val="6B7280"/>
      </a:folHlink>
    </a:clrScheme>
    <a:fontScheme name="Presales White">
      <a:majorFont>
        <a:latin typeface="Calibri"/>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14</Slides>
  <Notes>14</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14</vt:i4>
      </vt:variant>
    </vt:vector>
  </HeadingPairs>
  <TitlesOfParts>
    <vt:vector size="17"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Pre-sales Customer Meeting Template v3</dc:title>
  <dc:subject>PptxGenJS Presentation</dc:subject>
  <dc:creator>PptxGenJS</dc:creator>
  <cp:lastModifiedBy>PptxGenJS</cp:lastModifiedBy>
  <cp:revision>1</cp:revision>
  <dcterms:created xsi:type="dcterms:W3CDTF">2026-10-20T19:41:12Z</dcterms:created>
  <dcterms:modified xsi:type="dcterms:W3CDTF">2026-10-20T19:41:12Z</dcterms:modified>
</cp:coreProperties>
</file>